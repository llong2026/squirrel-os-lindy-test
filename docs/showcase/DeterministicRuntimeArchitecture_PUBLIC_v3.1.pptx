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media/image39.svg" ContentType="image/svg+xml"/>
  <Override PartName="/ppt/media/image4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4.svg" ContentType="image/svg+xml"/>
  <Override PartName="/ppt/media/image45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49.svg" ContentType="image/svg+xml"/>
  <Override PartName="/ppt/media/image5.svg" ContentType="image/svg+xml"/>
  <Override PartName="/ppt/media/image50.svg" ContentType="image/svg+xml"/>
  <Override PartName="/ppt/media/image51.svg" ContentType="image/svg+xml"/>
  <Override PartName="/ppt/media/image52.svg" ContentType="image/svg+xml"/>
  <Override PartName="/ppt/media/image53.svg" ContentType="image/svg+xml"/>
  <Override PartName="/ppt/media/image54.svg" ContentType="image/svg+xml"/>
  <Override PartName="/ppt/media/image55.svg" ContentType="image/svg+xml"/>
  <Override PartName="/ppt/media/image56.svg" ContentType="image/svg+xml"/>
  <Override PartName="/ppt/media/image57.svg" ContentType="image/svg+xml"/>
  <Override PartName="/ppt/media/image58.svg" ContentType="image/svg+xml"/>
  <Override PartName="/ppt/media/image59.svg" ContentType="image/svg+xml"/>
  <Override PartName="/ppt/media/image6.svg" ContentType="image/svg+xml"/>
  <Override PartName="/ppt/media/image60.svg" ContentType="image/svg+xml"/>
  <Override PartName="/ppt/media/image61.svg" ContentType="image/svg+xml"/>
  <Override PartName="/ppt/media/image62.svg" ContentType="image/svg+xml"/>
  <Override PartName="/ppt/media/image63.svg" ContentType="image/svg+xml"/>
  <Override PartName="/ppt/media/image64.svg" ContentType="image/svg+xml"/>
  <Override PartName="/ppt/media/image65.svg" ContentType="image/svg+xml"/>
  <Override PartName="/ppt/media/image66.svg" ContentType="image/svg+xml"/>
  <Override PartName="/ppt/media/image67.svg" ContentType="image/svg+xml"/>
  <Override PartName="/ppt/media/image68.svg" ContentType="image/svg+xml"/>
  <Override PartName="/ppt/media/image69.svg" ContentType="image/svg+xml"/>
  <Override PartName="/ppt/media/image7.svg" ContentType="image/svg+xml"/>
  <Override PartName="/ppt/media/image70.svg" ContentType="image/svg+xml"/>
  <Override PartName="/ppt/media/image71.svg" ContentType="image/svg+xml"/>
  <Override PartName="/ppt/media/image72.svg" ContentType="image/svg+xml"/>
  <Override PartName="/ppt/media/image73.svg" ContentType="image/svg+xml"/>
  <Override PartName="/ppt/media/image74.svg" ContentType="image/svg+xml"/>
  <Override PartName="/ppt/media/image75.svg" ContentType="image/svg+xml"/>
  <Override PartName="/ppt/media/image76.svg" ContentType="image/svg+xml"/>
  <Override PartName="/ppt/media/image77.svg" ContentType="image/svg+xml"/>
  <Override PartName="/ppt/media/image78.svg" ContentType="image/svg+xml"/>
  <Override PartName="/ppt/media/image79.svg" ContentType="image/svg+xml"/>
  <Override PartName="/ppt/media/image8.svg" ContentType="image/svg+xml"/>
  <Override PartName="/ppt/media/image80.svg" ContentType="image/svg+xml"/>
  <Override PartName="/ppt/media/image81.svg" ContentType="image/svg+xml"/>
  <Override PartName="/ppt/media/image82.svg" ContentType="image/svg+xml"/>
  <Override PartName="/ppt/media/image86.svg" ContentType="image/svg+xml"/>
  <Override PartName="/ppt/media/image87.svg" ContentType="image/svg+xml"/>
  <Override PartName="/ppt/media/image8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9212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svg"/><Relationship Id="rId4" Type="http://schemas.openxmlformats.org/officeDocument/2006/relationships/image" Target="../media/image2.svg"/><Relationship Id="rId5" Type="http://schemas.openxmlformats.org/officeDocument/2006/relationships/image" Target="../media/image3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svg"/><Relationship Id="rId4" Type="http://schemas.openxmlformats.org/officeDocument/2006/relationships/image" Target="../media/image5.svg"/><Relationship Id="rId5" Type="http://schemas.openxmlformats.org/officeDocument/2006/relationships/image" Target="../media/image6.svg"/><Relationship Id="rId6" Type="http://schemas.openxmlformats.org/officeDocument/2006/relationships/image" Target="../media/image7.svg"/><Relationship Id="rId7" Type="http://schemas.openxmlformats.org/officeDocument/2006/relationships/image" Target="../media/image8.svg"/><Relationship Id="rId8" Type="http://schemas.openxmlformats.org/officeDocument/2006/relationships/image" Target="../media/image9.svg"/><Relationship Id="rId9" Type="http://schemas.openxmlformats.org/officeDocument/2006/relationships/image" Target="../media/image10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svg"/><Relationship Id="rId4" Type="http://schemas.openxmlformats.org/officeDocument/2006/relationships/image" Target="../media/image12.svg"/><Relationship Id="rId5" Type="http://schemas.openxmlformats.org/officeDocument/2006/relationships/image" Target="../media/image13.svg"/><Relationship Id="rId6" Type="http://schemas.openxmlformats.org/officeDocument/2006/relationships/image" Target="../media/image14.svg"/><Relationship Id="rId7" Type="http://schemas.openxmlformats.org/officeDocument/2006/relationships/image" Target="../media/image15.svg"/><Relationship Id="rId8" Type="http://schemas.openxmlformats.org/officeDocument/2006/relationships/image" Target="../media/image16.svg"/><Relationship Id="rId9" Type="http://schemas.openxmlformats.org/officeDocument/2006/relationships/image" Target="../media/image17.svg"/><Relationship Id="rId10" Type="http://schemas.openxmlformats.org/officeDocument/2006/relationships/image" Target="../media/image18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svg"/><Relationship Id="rId4" Type="http://schemas.openxmlformats.org/officeDocument/2006/relationships/image" Target="../media/image20.svg"/><Relationship Id="rId5" Type="http://schemas.openxmlformats.org/officeDocument/2006/relationships/image" Target="../media/image21.svg"/><Relationship Id="rId6" Type="http://schemas.openxmlformats.org/officeDocument/2006/relationships/image" Target="../media/image22.svg"/><Relationship Id="rId7" Type="http://schemas.openxmlformats.org/officeDocument/2006/relationships/image" Target="../media/image23.svg"/><Relationship Id="rId8" Type="http://schemas.openxmlformats.org/officeDocument/2006/relationships/image" Target="../media/image24.svg"/><Relationship Id="rId9" Type="http://schemas.openxmlformats.org/officeDocument/2006/relationships/image" Target="../media/image25.svg"/><Relationship Id="rId10" Type="http://schemas.openxmlformats.org/officeDocument/2006/relationships/image" Target="../media/image26.svg"/><Relationship Id="rId11" Type="http://schemas.openxmlformats.org/officeDocument/2006/relationships/image" Target="../media/image27.svg"/><Relationship Id="rId12" Type="http://schemas.openxmlformats.org/officeDocument/2006/relationships/image" Target="../media/image28.svg"/><Relationship Id="rId13" Type="http://schemas.openxmlformats.org/officeDocument/2006/relationships/image" Target="../media/image29.svg"/><Relationship Id="rId14" Type="http://schemas.openxmlformats.org/officeDocument/2006/relationships/image" Target="../media/image30.svg"/><Relationship Id="rId15" Type="http://schemas.openxmlformats.org/officeDocument/2006/relationships/image" Target="../media/image31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svg"/><Relationship Id="rId4" Type="http://schemas.openxmlformats.org/officeDocument/2006/relationships/image" Target="../media/image33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4.svg"/><Relationship Id="rId4" Type="http://schemas.openxmlformats.org/officeDocument/2006/relationships/image" Target="../media/image35.svg"/><Relationship Id="rId5" Type="http://schemas.openxmlformats.org/officeDocument/2006/relationships/image" Target="../media/image36.svg"/><Relationship Id="rId6" Type="http://schemas.openxmlformats.org/officeDocument/2006/relationships/image" Target="../media/image37.svg"/><Relationship Id="rId7" Type="http://schemas.openxmlformats.org/officeDocument/2006/relationships/image" Target="../media/image38.svg"/><Relationship Id="rId8" Type="http://schemas.openxmlformats.org/officeDocument/2006/relationships/image" Target="../media/image39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0.svg"/><Relationship Id="rId4" Type="http://schemas.openxmlformats.org/officeDocument/2006/relationships/image" Target="../media/image41.svg"/><Relationship Id="rId5" Type="http://schemas.openxmlformats.org/officeDocument/2006/relationships/image" Target="../media/image42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3.svg"/><Relationship Id="rId4" Type="http://schemas.openxmlformats.org/officeDocument/2006/relationships/image" Target="../media/image44.svg"/><Relationship Id="rId5" Type="http://schemas.openxmlformats.org/officeDocument/2006/relationships/image" Target="../media/image45.svg"/><Relationship Id="rId6" Type="http://schemas.openxmlformats.org/officeDocument/2006/relationships/image" Target="../media/image46.svg"/><Relationship Id="rId7" Type="http://schemas.openxmlformats.org/officeDocument/2006/relationships/image" Target="../media/image47.svg"/><Relationship Id="rId8" Type="http://schemas.openxmlformats.org/officeDocument/2006/relationships/image" Target="../media/image48.svg"/><Relationship Id="rId9" Type="http://schemas.openxmlformats.org/officeDocument/2006/relationships/image" Target="../media/image49.svg"/><Relationship Id="rId10" Type="http://schemas.openxmlformats.org/officeDocument/2006/relationships/image" Target="../media/image50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1.svg"/><Relationship Id="rId4" Type="http://schemas.openxmlformats.org/officeDocument/2006/relationships/image" Target="../media/image52.svg"/><Relationship Id="rId5" Type="http://schemas.openxmlformats.org/officeDocument/2006/relationships/image" Target="../media/image53.svg"/><Relationship Id="rId6" Type="http://schemas.openxmlformats.org/officeDocument/2006/relationships/image" Target="../media/image54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5.svg"/><Relationship Id="rId4" Type="http://schemas.openxmlformats.org/officeDocument/2006/relationships/image" Target="../media/image56.svg"/><Relationship Id="rId5" Type="http://schemas.openxmlformats.org/officeDocument/2006/relationships/image" Target="../media/image57.svg"/><Relationship Id="rId6" Type="http://schemas.openxmlformats.org/officeDocument/2006/relationships/image" Target="../media/image58.svg"/><Relationship Id="rId7" Type="http://schemas.openxmlformats.org/officeDocument/2006/relationships/image" Target="../media/image59.svg"/><Relationship Id="rId8" Type="http://schemas.openxmlformats.org/officeDocument/2006/relationships/image" Target="../media/image60.svg"/><Relationship Id="rId9" Type="http://schemas.openxmlformats.org/officeDocument/2006/relationships/image" Target="../media/image61.svg"/><Relationship Id="rId10" Type="http://schemas.openxmlformats.org/officeDocument/2006/relationships/image" Target="../media/image62.svg"/><Relationship Id="rId11" Type="http://schemas.openxmlformats.org/officeDocument/2006/relationships/image" Target="../media/image63.svg"/><Relationship Id="rId12" Type="http://schemas.openxmlformats.org/officeDocument/2006/relationships/image" Target="../media/image64.svg"/><Relationship Id="rId13" Type="http://schemas.openxmlformats.org/officeDocument/2006/relationships/image" Target="../media/image65.svg"/><Relationship Id="rId14" Type="http://schemas.openxmlformats.org/officeDocument/2006/relationships/image" Target="../media/image66.svg"/><Relationship Id="rId15" Type="http://schemas.openxmlformats.org/officeDocument/2006/relationships/image" Target="../media/image67.svg"/><Relationship Id="rId16" Type="http://schemas.openxmlformats.org/officeDocument/2006/relationships/image" Target="../media/image68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9.svg"/><Relationship Id="rId4" Type="http://schemas.openxmlformats.org/officeDocument/2006/relationships/image" Target="../media/image70.svg"/><Relationship Id="rId5" Type="http://schemas.openxmlformats.org/officeDocument/2006/relationships/image" Target="../media/image71.svg"/><Relationship Id="rId6" Type="http://schemas.openxmlformats.org/officeDocument/2006/relationships/image" Target="../media/image72.svg"/><Relationship Id="rId7" Type="http://schemas.openxmlformats.org/officeDocument/2006/relationships/image" Target="../media/image73.svg"/><Relationship Id="rId8" Type="http://schemas.openxmlformats.org/officeDocument/2006/relationships/image" Target="../media/image74.svg"/><Relationship Id="rId9" Type="http://schemas.openxmlformats.org/officeDocument/2006/relationships/image" Target="../media/image75.svg"/><Relationship Id="rId10" Type="http://schemas.openxmlformats.org/officeDocument/2006/relationships/image" Target="../media/image76.svg"/><Relationship Id="rId11" Type="http://schemas.openxmlformats.org/officeDocument/2006/relationships/image" Target="../media/image77.svg"/><Relationship Id="rId12" Type="http://schemas.openxmlformats.org/officeDocument/2006/relationships/image" Target="../media/image78.svg"/><Relationship Id="rId13" Type="http://schemas.openxmlformats.org/officeDocument/2006/relationships/image" Target="../media/image79.svg"/><Relationship Id="rId14" Type="http://schemas.openxmlformats.org/officeDocument/2006/relationships/image" Target="../media/image80.svg"/><Relationship Id="rId15" Type="http://schemas.openxmlformats.org/officeDocument/2006/relationships/image" Target="../media/image81.svg"/><Relationship Id="rId16" Type="http://schemas.openxmlformats.org/officeDocument/2006/relationships/image" Target="../media/image82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svg"/><Relationship Id="rId7" Type="http://schemas.openxmlformats.org/officeDocument/2006/relationships/image" Target="../media/image87.svg"/><Relationship Id="rId8" Type="http://schemas.openxmlformats.org/officeDocument/2006/relationships/image" Target="../media/image8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99890" y="937260"/>
            <a:ext cx="6144220" cy="3143250"/>
          </a:xfrm>
          <a:prstGeom prst="rect">
            <a:avLst/>
          </a:prstGeom>
          <a:gradFill rotWithShape="1">
            <a:gsLst>
              <a:gs pos="0">
                <a:srgbClr val="3B82F6">
                  <a:alpha val="13000"/>
                </a:srgbClr>
              </a:gs>
              <a:gs pos="55000">
                <a:srgbClr val="1E3A78">
                  <a:alpha val="7000"/>
                </a:srgbClr>
              </a:gs>
              <a:gs pos="8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0" y="0"/>
            <a:ext cx="1286470" cy="2158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0" y="0"/>
            <a:ext cx="21580" cy="85725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857530" y="5121920"/>
            <a:ext cx="1286470" cy="2158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122420" y="4286250"/>
            <a:ext cx="21580" cy="85725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243560" y="1467743"/>
            <a:ext cx="2710017" cy="228898"/>
          </a:xfrm>
          <a:prstGeom prst="roundRect">
            <a:avLst>
              <a:gd name="adj" fmla="val 12761"/>
            </a:avLst>
          </a:prstGeom>
          <a:solidFill>
            <a:srgbClr val="3B82F6">
              <a:alpha val="12000"/>
            </a:srgbClr>
          </a:solidFill>
          <a:ln w="9525">
            <a:solidFill>
              <a:srgbClr val="3B82F6">
                <a:alpha val="35000"/>
              </a:srgbClr>
            </a:solidFill>
          </a:ln>
        </p:spPr>
        <p:txBody>
          <a:bodyPr wrap="none" lIns="114300" tIns="35560" rIns="114300" bIns="3556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3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RUNTIME ARCHITECTURE</a:t>
            </a:r>
            <a:endParaRPr lang="en-US" sz="730" dirty="0"/>
          </a:p>
        </p:txBody>
      </p:sp>
      <p:sp>
        <p:nvSpPr>
          <p:cNvPr id="9" name="Text 6"/>
          <p:cNvSpPr/>
          <p:nvPr/>
        </p:nvSpPr>
        <p:spPr>
          <a:xfrm>
            <a:off x="1747218" y="1925241"/>
            <a:ext cx="5649563" cy="1232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22"/>
              </a:lnSpc>
              <a:buNone/>
            </a:pPr>
            <a:r>
              <a:rPr lang="en-US" sz="4280" kern="0" spc="-86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Deterministic Runtime</a:t>
            </a:r>
            <a:br/>
            <a:r>
              <a:rPr lang="en-US" sz="4280" kern="0" spc="-86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Architecture</a:t>
            </a:r>
            <a:endParaRPr lang="en-US" sz="4280" dirty="0"/>
          </a:p>
        </p:txBody>
      </p:sp>
      <p:sp>
        <p:nvSpPr>
          <p:cNvPr id="10" name="Text 7"/>
          <p:cNvSpPr/>
          <p:nvPr/>
        </p:nvSpPr>
        <p:spPr>
          <a:xfrm>
            <a:off x="3429000" y="3270647"/>
            <a:ext cx="228600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B82F6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  <a:effectLst>
            <a:outerShdw blurRad="100330" dist="50800" dir="16200000" algn="bl" rotWithShape="0">
              <a:srgbClr val="3B82F6">
                <a:alpha val="5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954560" y="3492847"/>
            <a:ext cx="1247314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A8BC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Constitutional Core</a:t>
            </a:r>
            <a:endParaRPr lang="en-US" sz="960" dirty="0"/>
          </a:p>
        </p:txBody>
      </p:sp>
      <p:sp>
        <p:nvSpPr>
          <p:cNvPr id="12" name="Text 9"/>
          <p:cNvSpPr/>
          <p:nvPr/>
        </p:nvSpPr>
        <p:spPr>
          <a:xfrm>
            <a:off x="3159472" y="3504158"/>
            <a:ext cx="4322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3B82F6">
                    <a:alpha val="5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3269754" y="3492847"/>
            <a:ext cx="1059701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A8BC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Bifurcated Governance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4304109" y="3504158"/>
            <a:ext cx="4322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3B82F6">
                    <a:alpha val="5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4414391" y="3492847"/>
            <a:ext cx="1014189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A8BC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 Horsemen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5407372" y="3504158"/>
            <a:ext cx="4322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3B82F6">
                    <a:alpha val="5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5517654" y="3492847"/>
            <a:ext cx="45298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A8BC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SDR-1</a:t>
            </a:r>
            <a:endParaRPr lang="en-US" sz="960" dirty="0"/>
          </a:p>
        </p:txBody>
      </p:sp>
      <p:sp>
        <p:nvSpPr>
          <p:cNvPr id="18" name="Text 15"/>
          <p:cNvSpPr/>
          <p:nvPr/>
        </p:nvSpPr>
        <p:spPr>
          <a:xfrm>
            <a:off x="6000452" y="3504158"/>
            <a:ext cx="4322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3B82F6">
                    <a:alpha val="5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6110734" y="3492847"/>
            <a:ext cx="118641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A8BCD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October Roadmap</a:t>
            </a:r>
            <a:endParaRPr lang="en-US" sz="960" dirty="0"/>
          </a:p>
        </p:txBody>
      </p:sp>
      <p:sp>
        <p:nvSpPr>
          <p:cNvPr id="20" name="Text 17"/>
          <p:cNvSpPr/>
          <p:nvPr/>
        </p:nvSpPr>
        <p:spPr>
          <a:xfrm>
            <a:off x="0" y="4771430"/>
            <a:ext cx="9144000" cy="372070"/>
          </a:xfrm>
          <a:prstGeom prst="rect">
            <a:avLst/>
          </a:prstGeom>
          <a:solidFill>
            <a:srgbClr val="131929">
              <a:alpha val="8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0" y="4771430"/>
            <a:ext cx="9144000" cy="9525"/>
          </a:xfrm>
          <a:prstGeom prst="rect">
            <a:avLst/>
          </a:prstGeom>
          <a:solidFill>
            <a:srgbClr val="3B82F6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65100" y="4892725"/>
            <a:ext cx="132949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kern="0" spc="44" dirty="0">
                <a:solidFill>
                  <a:srgbClr val="8B9FCC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EDITION</a:t>
            </a:r>
            <a:endParaRPr lang="en-US" sz="73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3276" y="4895933"/>
            <a:ext cx="132588" cy="13258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950398" y="4892725"/>
            <a:ext cx="81004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kern="0" spc="29" dirty="0">
                <a:solidFill>
                  <a:srgbClr val="8B9FCC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73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97486" y="4895933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B82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B82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9170" cy="51435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3B82F6">
                  <a:alpha val="1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43750" y="0"/>
            <a:ext cx="2000250" cy="2000250"/>
          </a:xfrm>
          <a:prstGeom prst="ellipse">
            <a:avLst/>
          </a:prstGeom>
          <a:gradFill rotWithShape="1">
            <a:gsLst>
              <a:gs pos="0">
                <a:srgbClr val="3B82F6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9220" y="3714750"/>
            <a:ext cx="1857970" cy="1428750"/>
          </a:xfrm>
          <a:prstGeom prst="ellipse">
            <a:avLst/>
          </a:prstGeom>
          <a:gradFill rotWithShape="1">
            <a:gsLst>
              <a:gs pos="0">
                <a:srgbClr val="3B82F6">
                  <a:alpha val="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4787503"/>
            <a:ext cx="8229600" cy="9525"/>
          </a:xfrm>
          <a:prstGeom prst="rect">
            <a:avLst/>
          </a:prstGeom>
          <a:solidFill>
            <a:srgbClr val="3B82F6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0374" y="4860661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7127" y="4868019"/>
            <a:ext cx="78335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Edition — October 2026</a:t>
            </a:r>
            <a:endParaRPr lang="en-US" sz="620" dirty="0"/>
          </a:p>
        </p:txBody>
      </p:sp>
      <p:sp>
        <p:nvSpPr>
          <p:cNvPr id="10" name="Text 7"/>
          <p:cNvSpPr/>
          <p:nvPr/>
        </p:nvSpPr>
        <p:spPr>
          <a:xfrm>
            <a:off x="7395121" y="4905375"/>
            <a:ext cx="43160" cy="43160"/>
          </a:xfrm>
          <a:prstGeom prst="ellipse">
            <a:avLst/>
          </a:prstGeom>
          <a:solidFill>
            <a:srgbClr val="3B82F6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481441" y="4868019"/>
            <a:ext cx="132589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Runtime Architecture</a:t>
            </a:r>
            <a:endParaRPr lang="en-US" sz="620" dirty="0"/>
          </a:p>
        </p:txBody>
      </p:sp>
      <p:sp>
        <p:nvSpPr>
          <p:cNvPr id="12" name="Text 9"/>
          <p:cNvSpPr/>
          <p:nvPr/>
        </p:nvSpPr>
        <p:spPr>
          <a:xfrm>
            <a:off x="523875" y="1243013"/>
            <a:ext cx="21580" cy="465534"/>
          </a:xfrm>
          <a:custGeom>
            <a:avLst/>
            <a:gdLst/>
            <a:ahLst/>
            <a:cxnLst/>
            <a:rect l="l" t="t" r="r" b="b"/>
            <a:pathLst>
              <a:path w="21580" h="465534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445442"/>
                </a:lnTo>
                <a:lnTo>
                  <a:pt x="18883" y="442677"/>
                </a:lnTo>
                <a:lnTo>
                  <a:pt x="16185" y="439583"/>
                </a:lnTo>
                <a:lnTo>
                  <a:pt x="13488" y="436086"/>
                </a:lnTo>
                <a:lnTo>
                  <a:pt x="10790" y="432075"/>
                </a:lnTo>
                <a:lnTo>
                  <a:pt x="8093" y="427363"/>
                </a:lnTo>
                <a:lnTo>
                  <a:pt x="5395" y="421586"/>
                </a:lnTo>
                <a:lnTo>
                  <a:pt x="2698" y="413816"/>
                </a:lnTo>
                <a:lnTo>
                  <a:pt x="0" y="394414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645521" y="1243013"/>
            <a:ext cx="21580" cy="465534"/>
          </a:xfrm>
          <a:custGeom>
            <a:avLst/>
            <a:gdLst/>
            <a:ahLst/>
            <a:cxnLst/>
            <a:rect l="l" t="t" r="r" b="b"/>
            <a:pathLst>
              <a:path w="21580" h="465534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445442"/>
                </a:lnTo>
                <a:lnTo>
                  <a:pt x="18883" y="442677"/>
                </a:lnTo>
                <a:lnTo>
                  <a:pt x="16185" y="439583"/>
                </a:lnTo>
                <a:lnTo>
                  <a:pt x="13488" y="436086"/>
                </a:lnTo>
                <a:lnTo>
                  <a:pt x="10790" y="432075"/>
                </a:lnTo>
                <a:lnTo>
                  <a:pt x="8093" y="427363"/>
                </a:lnTo>
                <a:lnTo>
                  <a:pt x="5395" y="421586"/>
                </a:lnTo>
                <a:lnTo>
                  <a:pt x="2698" y="413816"/>
                </a:lnTo>
                <a:lnTo>
                  <a:pt x="0" y="394414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23875" y="1798588"/>
            <a:ext cx="21580" cy="465534"/>
          </a:xfrm>
          <a:custGeom>
            <a:avLst/>
            <a:gdLst/>
            <a:ahLst/>
            <a:cxnLst/>
            <a:rect l="l" t="t" r="r" b="b"/>
            <a:pathLst>
              <a:path w="21580" h="465534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445442"/>
                </a:lnTo>
                <a:lnTo>
                  <a:pt x="18883" y="442677"/>
                </a:lnTo>
                <a:lnTo>
                  <a:pt x="16185" y="439583"/>
                </a:lnTo>
                <a:lnTo>
                  <a:pt x="13488" y="436086"/>
                </a:lnTo>
                <a:lnTo>
                  <a:pt x="10790" y="432075"/>
                </a:lnTo>
                <a:lnTo>
                  <a:pt x="8093" y="427363"/>
                </a:lnTo>
                <a:lnTo>
                  <a:pt x="5395" y="421586"/>
                </a:lnTo>
                <a:lnTo>
                  <a:pt x="2698" y="413816"/>
                </a:lnTo>
                <a:lnTo>
                  <a:pt x="0" y="394414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645521" y="1798588"/>
            <a:ext cx="21580" cy="465534"/>
          </a:xfrm>
          <a:custGeom>
            <a:avLst/>
            <a:gdLst/>
            <a:ahLst/>
            <a:cxnLst/>
            <a:rect l="l" t="t" r="r" b="b"/>
            <a:pathLst>
              <a:path w="21580" h="465534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445442"/>
                </a:lnTo>
                <a:lnTo>
                  <a:pt x="18883" y="442677"/>
                </a:lnTo>
                <a:lnTo>
                  <a:pt x="16185" y="439583"/>
                </a:lnTo>
                <a:lnTo>
                  <a:pt x="13488" y="436086"/>
                </a:lnTo>
                <a:lnTo>
                  <a:pt x="10790" y="432075"/>
                </a:lnTo>
                <a:lnTo>
                  <a:pt x="8093" y="427363"/>
                </a:lnTo>
                <a:lnTo>
                  <a:pt x="5395" y="421586"/>
                </a:lnTo>
                <a:lnTo>
                  <a:pt x="2698" y="413816"/>
                </a:lnTo>
                <a:lnTo>
                  <a:pt x="0" y="394414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23875" y="2354163"/>
            <a:ext cx="21580" cy="465534"/>
          </a:xfrm>
          <a:custGeom>
            <a:avLst/>
            <a:gdLst/>
            <a:ahLst/>
            <a:cxnLst/>
            <a:rect l="l" t="t" r="r" b="b"/>
            <a:pathLst>
              <a:path w="21580" h="465534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445442"/>
                </a:lnTo>
                <a:lnTo>
                  <a:pt x="18883" y="442677"/>
                </a:lnTo>
                <a:lnTo>
                  <a:pt x="16185" y="439583"/>
                </a:lnTo>
                <a:lnTo>
                  <a:pt x="13488" y="436086"/>
                </a:lnTo>
                <a:lnTo>
                  <a:pt x="10790" y="432075"/>
                </a:lnTo>
                <a:lnTo>
                  <a:pt x="8093" y="427363"/>
                </a:lnTo>
                <a:lnTo>
                  <a:pt x="5395" y="421586"/>
                </a:lnTo>
                <a:lnTo>
                  <a:pt x="2698" y="413816"/>
                </a:lnTo>
                <a:lnTo>
                  <a:pt x="0" y="394414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645521" y="2354163"/>
            <a:ext cx="21580" cy="465534"/>
          </a:xfrm>
          <a:custGeom>
            <a:avLst/>
            <a:gdLst/>
            <a:ahLst/>
            <a:cxnLst/>
            <a:rect l="l" t="t" r="r" b="b"/>
            <a:pathLst>
              <a:path w="21580" h="465534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445442"/>
                </a:lnTo>
                <a:lnTo>
                  <a:pt x="18883" y="442677"/>
                </a:lnTo>
                <a:lnTo>
                  <a:pt x="16185" y="439583"/>
                </a:lnTo>
                <a:lnTo>
                  <a:pt x="13488" y="436086"/>
                </a:lnTo>
                <a:lnTo>
                  <a:pt x="10790" y="432075"/>
                </a:lnTo>
                <a:lnTo>
                  <a:pt x="8093" y="427363"/>
                </a:lnTo>
                <a:lnTo>
                  <a:pt x="5395" y="421586"/>
                </a:lnTo>
                <a:lnTo>
                  <a:pt x="2698" y="413816"/>
                </a:lnTo>
                <a:lnTo>
                  <a:pt x="0" y="394414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14350" y="314920"/>
            <a:ext cx="689521" cy="214952"/>
          </a:xfrm>
          <a:prstGeom prst="roundRect">
            <a:avLst>
              <a:gd name="adj" fmla="val 66764"/>
            </a:avLst>
          </a:prstGeom>
          <a:solidFill>
            <a:srgbClr val="3B82F6">
              <a:alpha val="18000"/>
            </a:srgbClr>
          </a:solidFill>
          <a:ln w="9525">
            <a:solidFill>
              <a:srgbClr val="3B82F6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620" dirty="0"/>
          </a:p>
        </p:txBody>
      </p:sp>
      <p:sp>
        <p:nvSpPr>
          <p:cNvPr id="19" name="Text 16"/>
          <p:cNvSpPr/>
          <p:nvPr/>
        </p:nvSpPr>
        <p:spPr>
          <a:xfrm>
            <a:off x="514350" y="539502"/>
            <a:ext cx="1035896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kern="0" spc="-22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Agenda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514350" y="1011287"/>
            <a:ext cx="40005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3B82F6"/>
              </a:gs>
              <a:gs pos="100000">
                <a:srgbClr val="3B82F6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7933730" y="315516"/>
            <a:ext cx="753070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264"/>
              </a:lnSpc>
              <a:buNone/>
            </a:pPr>
            <a:r>
              <a:rPr lang="en-US" sz="79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Topics</a:t>
            </a:r>
            <a:endParaRPr lang="en-US" sz="790" dirty="0"/>
          </a:p>
        </p:txBody>
      </p:sp>
      <p:sp>
        <p:nvSpPr>
          <p:cNvPr id="22" name="Text 19"/>
          <p:cNvSpPr/>
          <p:nvPr/>
        </p:nvSpPr>
        <p:spPr>
          <a:xfrm>
            <a:off x="7933730" y="475952"/>
            <a:ext cx="75307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168"/>
              </a:lnSpc>
              <a:buNone/>
            </a:pPr>
            <a:r>
              <a:rPr lang="en-US" sz="73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730" dirty="0"/>
          </a:p>
        </p:txBody>
      </p:sp>
      <p:sp>
        <p:nvSpPr>
          <p:cNvPr id="23" name="Text 20"/>
          <p:cNvSpPr/>
          <p:nvPr/>
        </p:nvSpPr>
        <p:spPr>
          <a:xfrm>
            <a:off x="514350" y="1233488"/>
            <a:ext cx="4050655" cy="484584"/>
          </a:xfrm>
          <a:prstGeom prst="roundRect">
            <a:avLst>
              <a:gd name="adj" fmla="val 14677"/>
            </a:avLst>
          </a:prstGeom>
          <a:solidFill>
            <a:srgbClr val="131929"/>
          </a:solidFill>
          <a:ln w="9525">
            <a:solidFill>
              <a:srgbClr val="3B82F6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52016" y="1346895"/>
            <a:ext cx="257770" cy="283547"/>
          </a:xfrm>
          <a:prstGeom prst="roundRect">
            <a:avLst>
              <a:gd name="adj" fmla="val 22171"/>
            </a:avLst>
          </a:prstGeom>
          <a:solidFill>
            <a:srgbClr val="3B82F6">
              <a:alpha val="15000"/>
            </a:srgbClr>
          </a:solidFill>
          <a:ln w="9525">
            <a:solidFill>
              <a:srgbClr val="3B82F6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1037927" y="1335584"/>
            <a:ext cx="3481641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Core</a:t>
            </a:r>
            <a:endParaRPr lang="en-US" sz="960" dirty="0"/>
          </a:p>
        </p:txBody>
      </p:sp>
      <p:sp>
        <p:nvSpPr>
          <p:cNvPr id="26" name="Text 23"/>
          <p:cNvSpPr/>
          <p:nvPr/>
        </p:nvSpPr>
        <p:spPr>
          <a:xfrm>
            <a:off x="1037927" y="1495574"/>
            <a:ext cx="3481641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3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immutable foundation — genesis hash &amp; policy enforcement</a:t>
            </a:r>
            <a:endParaRPr lang="en-US" sz="73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2974" y="1409486"/>
            <a:ext cx="132588" cy="13258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635996" y="1233488"/>
            <a:ext cx="4050804" cy="484584"/>
          </a:xfrm>
          <a:prstGeom prst="roundRect">
            <a:avLst>
              <a:gd name="adj" fmla="val 14677"/>
            </a:avLst>
          </a:prstGeom>
          <a:solidFill>
            <a:srgbClr val="131929"/>
          </a:solidFill>
          <a:ln w="9525">
            <a:solidFill>
              <a:srgbClr val="3B82F6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4773662" y="1346895"/>
            <a:ext cx="257770" cy="283547"/>
          </a:xfrm>
          <a:prstGeom prst="roundRect">
            <a:avLst>
              <a:gd name="adj" fmla="val 22171"/>
            </a:avLst>
          </a:prstGeom>
          <a:solidFill>
            <a:srgbClr val="3B82F6">
              <a:alpha val="15000"/>
            </a:srgbClr>
          </a:solidFill>
          <a:ln w="9525">
            <a:solidFill>
              <a:srgbClr val="3B82F6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40" dirty="0"/>
          </a:p>
        </p:txBody>
      </p:sp>
      <p:sp>
        <p:nvSpPr>
          <p:cNvPr id="30" name="Text 26"/>
          <p:cNvSpPr/>
          <p:nvPr/>
        </p:nvSpPr>
        <p:spPr>
          <a:xfrm>
            <a:off x="5159573" y="1335584"/>
            <a:ext cx="3481804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Bifurcated Governance</a:t>
            </a:r>
            <a:endParaRPr lang="en-US" sz="960" dirty="0"/>
          </a:p>
        </p:txBody>
      </p:sp>
      <p:sp>
        <p:nvSpPr>
          <p:cNvPr id="31" name="Text 27"/>
          <p:cNvSpPr/>
          <p:nvPr/>
        </p:nvSpPr>
        <p:spPr>
          <a:xfrm>
            <a:off x="5159573" y="1495574"/>
            <a:ext cx="3481804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3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proprietary runtimes — pure deterministic &amp; caged probabilistic</a:t>
            </a:r>
            <a:endParaRPr lang="en-US" sz="73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4769" y="1409486"/>
            <a:ext cx="132588" cy="13258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14350" y="1789063"/>
            <a:ext cx="4050655" cy="484584"/>
          </a:xfrm>
          <a:prstGeom prst="roundRect">
            <a:avLst>
              <a:gd name="adj" fmla="val 14677"/>
            </a:avLst>
          </a:prstGeom>
          <a:solidFill>
            <a:srgbClr val="131929"/>
          </a:solidFill>
          <a:ln w="9525">
            <a:solidFill>
              <a:srgbClr val="3B82F6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652016" y="1902470"/>
            <a:ext cx="257770" cy="283547"/>
          </a:xfrm>
          <a:prstGeom prst="roundRect">
            <a:avLst>
              <a:gd name="adj" fmla="val 22171"/>
            </a:avLst>
          </a:prstGeom>
          <a:solidFill>
            <a:srgbClr val="3B82F6">
              <a:alpha val="15000"/>
            </a:srgbClr>
          </a:solidFill>
          <a:ln w="9525">
            <a:solidFill>
              <a:srgbClr val="3B82F6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40" dirty="0"/>
          </a:p>
        </p:txBody>
      </p:sp>
      <p:sp>
        <p:nvSpPr>
          <p:cNvPr id="35" name="Text 30"/>
          <p:cNvSpPr/>
          <p:nvPr/>
        </p:nvSpPr>
        <p:spPr>
          <a:xfrm>
            <a:off x="1037927" y="1891159"/>
            <a:ext cx="3481641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Mesh</a:t>
            </a:r>
            <a:endParaRPr lang="en-US" sz="960" dirty="0"/>
          </a:p>
        </p:txBody>
      </p:sp>
      <p:sp>
        <p:nvSpPr>
          <p:cNvPr id="36" name="Text 31"/>
          <p:cNvSpPr/>
          <p:nvPr/>
        </p:nvSpPr>
        <p:spPr>
          <a:xfrm>
            <a:off x="1037927" y="2051149"/>
            <a:ext cx="3481641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3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execution — byte-identical replay parity, receipted</a:t>
            </a:r>
            <a:endParaRPr lang="en-US" sz="730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12974" y="1965061"/>
            <a:ext cx="132588" cy="13258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4635996" y="1789063"/>
            <a:ext cx="4050804" cy="484584"/>
          </a:xfrm>
          <a:prstGeom prst="roundRect">
            <a:avLst>
              <a:gd name="adj" fmla="val 14677"/>
            </a:avLst>
          </a:prstGeom>
          <a:solidFill>
            <a:srgbClr val="131929"/>
          </a:solidFill>
          <a:ln w="9525">
            <a:solidFill>
              <a:srgbClr val="3B82F6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4773662" y="1902470"/>
            <a:ext cx="257770" cy="283547"/>
          </a:xfrm>
          <a:prstGeom prst="roundRect">
            <a:avLst>
              <a:gd name="adj" fmla="val 22171"/>
            </a:avLst>
          </a:prstGeom>
          <a:solidFill>
            <a:srgbClr val="3B82F6">
              <a:alpha val="15000"/>
            </a:srgbClr>
          </a:solidFill>
          <a:ln w="9525">
            <a:solidFill>
              <a:srgbClr val="3B82F6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40" dirty="0"/>
          </a:p>
        </p:txBody>
      </p:sp>
      <p:sp>
        <p:nvSpPr>
          <p:cNvPr id="40" name="Text 34"/>
          <p:cNvSpPr/>
          <p:nvPr/>
        </p:nvSpPr>
        <p:spPr>
          <a:xfrm>
            <a:off x="5159573" y="1891159"/>
            <a:ext cx="3481804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Horsemen</a:t>
            </a:r>
            <a:endParaRPr lang="en-US" sz="960" dirty="0"/>
          </a:p>
        </p:txBody>
      </p:sp>
      <p:sp>
        <p:nvSpPr>
          <p:cNvPr id="41" name="Text 35"/>
          <p:cNvSpPr/>
          <p:nvPr/>
        </p:nvSpPr>
        <p:spPr>
          <a:xfrm>
            <a:off x="5159573" y="2051149"/>
            <a:ext cx="3481804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3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fleet — four independent shells, no matched inputs</a:t>
            </a:r>
            <a:endParaRPr lang="en-US" sz="730" dirty="0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34769" y="1965061"/>
            <a:ext cx="132588" cy="132588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514350" y="2344638"/>
            <a:ext cx="4050655" cy="484584"/>
          </a:xfrm>
          <a:prstGeom prst="roundRect">
            <a:avLst>
              <a:gd name="adj" fmla="val 14677"/>
            </a:avLst>
          </a:prstGeom>
          <a:solidFill>
            <a:srgbClr val="131929"/>
          </a:solidFill>
          <a:ln w="9525">
            <a:solidFill>
              <a:srgbClr val="3B82F6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7"/>
          <p:cNvSpPr/>
          <p:nvPr/>
        </p:nvSpPr>
        <p:spPr>
          <a:xfrm>
            <a:off x="652016" y="2458045"/>
            <a:ext cx="257770" cy="283547"/>
          </a:xfrm>
          <a:prstGeom prst="roundRect">
            <a:avLst>
              <a:gd name="adj" fmla="val 22171"/>
            </a:avLst>
          </a:prstGeom>
          <a:solidFill>
            <a:srgbClr val="3B82F6">
              <a:alpha val="15000"/>
            </a:srgbClr>
          </a:solidFill>
          <a:ln w="9525">
            <a:solidFill>
              <a:srgbClr val="3B82F6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40" dirty="0"/>
          </a:p>
        </p:txBody>
      </p:sp>
      <p:sp>
        <p:nvSpPr>
          <p:cNvPr id="45" name="Text 38"/>
          <p:cNvSpPr/>
          <p:nvPr/>
        </p:nvSpPr>
        <p:spPr>
          <a:xfrm>
            <a:off x="1037927" y="2446734"/>
            <a:ext cx="3481641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SDR-1 Results</a:t>
            </a:r>
            <a:endParaRPr lang="en-US" sz="960" dirty="0"/>
          </a:p>
        </p:txBody>
      </p:sp>
      <p:sp>
        <p:nvSpPr>
          <p:cNvPr id="46" name="Text 39"/>
          <p:cNvSpPr/>
          <p:nvPr/>
        </p:nvSpPr>
        <p:spPr>
          <a:xfrm>
            <a:off x="1037927" y="2606725"/>
            <a:ext cx="3481641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3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 determinism receipts — parity, replay, temporal independence</a:t>
            </a:r>
            <a:endParaRPr lang="en-US" sz="730" dirty="0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12974" y="2520636"/>
            <a:ext cx="132588" cy="132588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4635996" y="2344638"/>
            <a:ext cx="4050804" cy="484584"/>
          </a:xfrm>
          <a:prstGeom prst="roundRect">
            <a:avLst>
              <a:gd name="adj" fmla="val 14677"/>
            </a:avLst>
          </a:prstGeom>
          <a:solidFill>
            <a:srgbClr val="131929"/>
          </a:solidFill>
          <a:ln w="9525">
            <a:solidFill>
              <a:srgbClr val="3B82F6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1"/>
          <p:cNvSpPr/>
          <p:nvPr/>
        </p:nvSpPr>
        <p:spPr>
          <a:xfrm>
            <a:off x="4773662" y="2458045"/>
            <a:ext cx="257770" cy="283547"/>
          </a:xfrm>
          <a:prstGeom prst="roundRect">
            <a:avLst>
              <a:gd name="adj" fmla="val 22171"/>
            </a:avLst>
          </a:prstGeom>
          <a:solidFill>
            <a:srgbClr val="3B82F6">
              <a:alpha val="15000"/>
            </a:srgbClr>
          </a:solidFill>
          <a:ln w="9525">
            <a:solidFill>
              <a:srgbClr val="3B82F6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40" dirty="0"/>
          </a:p>
        </p:txBody>
      </p:sp>
      <p:sp>
        <p:nvSpPr>
          <p:cNvPr id="50" name="Text 42"/>
          <p:cNvSpPr/>
          <p:nvPr/>
        </p:nvSpPr>
        <p:spPr>
          <a:xfrm>
            <a:off x="5159573" y="2446734"/>
            <a:ext cx="3481804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Roadmap</a:t>
            </a:r>
            <a:endParaRPr lang="en-US" sz="960" dirty="0"/>
          </a:p>
        </p:txBody>
      </p:sp>
      <p:sp>
        <p:nvSpPr>
          <p:cNvPr id="51" name="Text 43"/>
          <p:cNvSpPr/>
          <p:nvPr/>
        </p:nvSpPr>
        <p:spPr>
          <a:xfrm>
            <a:off x="5159573" y="2606725"/>
            <a:ext cx="3481804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3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GO gate → 60-day Horsemen battery → December merge</a:t>
            </a:r>
            <a:endParaRPr lang="en-US" sz="730" dirty="0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34769" y="2520636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B82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B82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428875" y="1143000"/>
            <a:ext cx="4286250" cy="2857500"/>
          </a:xfrm>
          <a:prstGeom prst="rect">
            <a:avLst/>
          </a:prstGeom>
          <a:gradFill rotWithShape="1">
            <a:gsLst>
              <a:gs pos="0">
                <a:srgbClr val="3B82F6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2900" y="200620"/>
            <a:ext cx="1266230" cy="214952"/>
          </a:xfrm>
          <a:prstGeom prst="roundRect">
            <a:avLst>
              <a:gd name="adj" fmla="val 66764"/>
            </a:avLst>
          </a:prstGeom>
          <a:solidFill>
            <a:srgbClr val="3B82F6">
              <a:alpha val="15000"/>
            </a:srgbClr>
          </a:solidFill>
          <a:ln w="9525">
            <a:solidFill>
              <a:srgbClr val="3B82F6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LAYER</a:t>
            </a:r>
            <a:endParaRPr lang="en-US" sz="62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3081" y="231958"/>
            <a:ext cx="132588" cy="1325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23430" y="294531"/>
            <a:ext cx="7077670" cy="7590"/>
          </a:xfrm>
          <a:prstGeom prst="rect">
            <a:avLst/>
          </a:prstGeom>
          <a:gradFill rotWithShape="1">
            <a:gsLst>
              <a:gs pos="0">
                <a:srgbClr val="3B82F6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42900" y="480864"/>
            <a:ext cx="9050274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33"/>
              </a:lnSpc>
              <a:buNone/>
            </a:pPr>
            <a:r>
              <a:rPr lang="en-US" sz="2030" kern="0" spc="-2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</a:t>
            </a:r>
            <a:r>
              <a:rPr lang="en-US" sz="2030" b="1" kern="0" spc="-20" dirty="0">
                <a:solidFill>
                  <a:srgbClr val="3B82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Constitutional Core</a:t>
            </a:r>
            <a:endParaRPr lang="en-US" sz="2030" dirty="0"/>
          </a:p>
        </p:txBody>
      </p:sp>
      <p:sp>
        <p:nvSpPr>
          <p:cNvPr id="9" name="Text 6"/>
          <p:cNvSpPr/>
          <p:nvPr/>
        </p:nvSpPr>
        <p:spPr>
          <a:xfrm>
            <a:off x="342900" y="807541"/>
            <a:ext cx="42922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3B82F6"/>
              </a:gs>
              <a:gs pos="100000">
                <a:srgbClr val="60A5F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42900" y="1670000"/>
            <a:ext cx="1874519" cy="2560141"/>
          </a:xfrm>
          <a:prstGeom prst="roundRect">
            <a:avLst>
              <a:gd name="adj" fmla="val 17462"/>
            </a:avLst>
          </a:prstGeom>
          <a:solidFill>
            <a:srgbClr val="131929"/>
          </a:solidFill>
          <a:ln w="9525">
            <a:solidFill>
              <a:srgbClr val="3B82F6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25196" y="1779836"/>
            <a:ext cx="53369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620" dirty="0"/>
          </a:p>
        </p:txBody>
      </p:sp>
      <p:sp>
        <p:nvSpPr>
          <p:cNvPr id="12" name="Text 9"/>
          <p:cNvSpPr/>
          <p:nvPr/>
        </p:nvSpPr>
        <p:spPr>
          <a:xfrm>
            <a:off x="425196" y="1968847"/>
            <a:ext cx="1709927" cy="225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3"/>
              </a:lnSpc>
              <a:buNone/>
            </a:pPr>
            <a:r>
              <a:rPr lang="en-US" sz="79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Constitutional Core is the </a:t>
            </a:r>
            <a:r>
              <a:rPr lang="en-US" sz="79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bedrock</a:t>
            </a:r>
            <a:r>
              <a:rPr lang="en-US" sz="79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runtime. All execution paths must pass through its </a:t>
            </a:r>
            <a:r>
              <a:rPr lang="en-US" sz="79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gates</a:t>
            </a:r>
            <a:r>
              <a:rPr lang="en-US" sz="79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execution.</a:t>
            </a:r>
            <a:endParaRPr lang="en-US" sz="790" dirty="0"/>
          </a:p>
        </p:txBody>
      </p:sp>
      <p:sp>
        <p:nvSpPr>
          <p:cNvPr id="13" name="Text 10"/>
          <p:cNvSpPr/>
          <p:nvPr/>
        </p:nvSpPr>
        <p:spPr>
          <a:xfrm>
            <a:off x="2354579" y="1670000"/>
            <a:ext cx="1181993" cy="2560141"/>
          </a:xfrm>
          <a:prstGeom prst="roundRect">
            <a:avLst>
              <a:gd name="adj" fmla="val 7306"/>
            </a:avLst>
          </a:prstGeom>
          <a:solidFill>
            <a:srgbClr val="131929"/>
          </a:solidFill>
          <a:ln w="9525">
            <a:solidFill>
              <a:srgbClr val="3B82F6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8813" y="1772477"/>
            <a:ext cx="132588" cy="132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35120" y="1779836"/>
            <a:ext cx="84016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620" dirty="0"/>
          </a:p>
        </p:txBody>
      </p:sp>
      <p:sp>
        <p:nvSpPr>
          <p:cNvPr id="16" name="Text 12"/>
          <p:cNvSpPr/>
          <p:nvPr/>
        </p:nvSpPr>
        <p:spPr>
          <a:xfrm>
            <a:off x="2492245" y="2356098"/>
            <a:ext cx="906661" cy="9525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2492245" y="2137767"/>
            <a:ext cx="49411" cy="49411"/>
          </a:xfrm>
          <a:prstGeom prst="ellipse">
            <a:avLst/>
          </a:prstGeom>
          <a:solidFill>
            <a:srgbClr val="3B82F6"/>
          </a:solidFill>
          <a:ln/>
          <a:effectLst>
            <a:outerShdw blurRad="43180" dist="50800" dir="16200000" algn="bl" rotWithShape="0">
              <a:srgbClr val="3B82F6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2612647" y="2012007"/>
            <a:ext cx="801984" cy="315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Single-write genesis block</a:t>
            </a:r>
            <a:endParaRPr lang="en-US" sz="790" dirty="0"/>
          </a:p>
        </p:txBody>
      </p:sp>
      <p:sp>
        <p:nvSpPr>
          <p:cNvPr id="19" name="Text 15"/>
          <p:cNvSpPr/>
          <p:nvPr/>
        </p:nvSpPr>
        <p:spPr>
          <a:xfrm>
            <a:off x="2492245" y="2903339"/>
            <a:ext cx="906661" cy="9525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2492245" y="2609701"/>
            <a:ext cx="49411" cy="49411"/>
          </a:xfrm>
          <a:prstGeom prst="ellipse">
            <a:avLst/>
          </a:prstGeom>
          <a:solidFill>
            <a:srgbClr val="3B82F6"/>
          </a:solidFill>
          <a:ln/>
          <a:effectLst>
            <a:outerShdw blurRad="43180" dist="50800" dir="16200000" algn="bl" rotWithShape="0">
              <a:srgbClr val="3B82F6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2612647" y="2408783"/>
            <a:ext cx="801984" cy="47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policy enforcement</a:t>
            </a:r>
            <a:endParaRPr lang="en-US" sz="790" dirty="0"/>
          </a:p>
        </p:txBody>
      </p:sp>
      <p:sp>
        <p:nvSpPr>
          <p:cNvPr id="22" name="Text 18"/>
          <p:cNvSpPr/>
          <p:nvPr/>
        </p:nvSpPr>
        <p:spPr>
          <a:xfrm>
            <a:off x="2492245" y="3081784"/>
            <a:ext cx="49411" cy="49411"/>
          </a:xfrm>
          <a:prstGeom prst="ellipse">
            <a:avLst/>
          </a:prstGeom>
          <a:solidFill>
            <a:srgbClr val="3B82F6"/>
          </a:solidFill>
          <a:ln/>
          <a:effectLst>
            <a:outerShdw blurRad="43180" dist="50800" dir="16200000" algn="bl" rotWithShape="0">
              <a:srgbClr val="3B82F6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2612647" y="2956024"/>
            <a:ext cx="801984" cy="315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audit trail</a:t>
            </a:r>
            <a:endParaRPr lang="en-US" sz="790" dirty="0"/>
          </a:p>
        </p:txBody>
      </p:sp>
      <p:sp>
        <p:nvSpPr>
          <p:cNvPr id="24" name="Text 20"/>
          <p:cNvSpPr/>
          <p:nvPr/>
        </p:nvSpPr>
        <p:spPr>
          <a:xfrm>
            <a:off x="3536572" y="2743051"/>
            <a:ext cx="412849" cy="414040"/>
          </a:xfrm>
          <a:prstGeom prst="roundRect">
            <a:avLst>
              <a:gd name="adj" fmla="val 13843"/>
            </a:avLst>
          </a:prstGeom>
          <a:solidFill>
            <a:srgbClr val="3B82F6">
              <a:alpha val="8000"/>
            </a:srgbClr>
          </a:solidFill>
          <a:ln w="9525">
            <a:solidFill>
              <a:srgbClr val="3B82F6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76702" y="2791504"/>
            <a:ext cx="132588" cy="1325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586182" y="2935039"/>
            <a:ext cx="313628" cy="16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612"/>
              </a:lnSpc>
              <a:buNone/>
            </a:pPr>
            <a:r>
              <a:rPr lang="en-US" sz="510" b="1" kern="0" spc="36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IMMUTA-</a:t>
            </a:r>
            <a:br/>
            <a:r>
              <a:rPr lang="en-US" sz="510" b="1" kern="0" spc="36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BILITY</a:t>
            </a:r>
            <a:endParaRPr lang="en-US" sz="510" dirty="0"/>
          </a:p>
        </p:txBody>
      </p:sp>
      <p:sp>
        <p:nvSpPr>
          <p:cNvPr id="27" name="Text 22"/>
          <p:cNvSpPr/>
          <p:nvPr/>
        </p:nvSpPr>
        <p:spPr>
          <a:xfrm>
            <a:off x="4006571" y="2743051"/>
            <a:ext cx="556320" cy="414040"/>
          </a:xfrm>
          <a:prstGeom prst="roundRect">
            <a:avLst>
              <a:gd name="adj" fmla="val 13803"/>
            </a:avLst>
          </a:prstGeom>
          <a:solidFill>
            <a:srgbClr val="3B82F6">
              <a:alpha val="8000"/>
            </a:srgbClr>
          </a:solidFill>
          <a:ln w="9525">
            <a:solidFill>
              <a:srgbClr val="3B82F6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18437" y="2791504"/>
            <a:ext cx="132588" cy="13258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054747" y="2935039"/>
            <a:ext cx="459968" cy="16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612"/>
              </a:lnSpc>
              <a:buNone/>
            </a:pPr>
            <a:r>
              <a:rPr lang="en-US" sz="510" b="1" kern="0" spc="36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br/>
            <a:r>
              <a:rPr lang="en-US" sz="510" b="1" kern="0" spc="36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510" dirty="0"/>
          </a:p>
        </p:txBody>
      </p:sp>
      <p:sp>
        <p:nvSpPr>
          <p:cNvPr id="30" name="Text 24"/>
          <p:cNvSpPr/>
          <p:nvPr/>
        </p:nvSpPr>
        <p:spPr>
          <a:xfrm>
            <a:off x="4620041" y="2743051"/>
            <a:ext cx="325934" cy="414040"/>
          </a:xfrm>
          <a:prstGeom prst="roundRect">
            <a:avLst>
              <a:gd name="adj" fmla="val 17534"/>
            </a:avLst>
          </a:prstGeom>
          <a:solidFill>
            <a:srgbClr val="3B82F6">
              <a:alpha val="8000"/>
            </a:srgbClr>
          </a:solidFill>
          <a:ln w="9525">
            <a:solidFill>
              <a:srgbClr val="3B82F6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16713" y="2791504"/>
            <a:ext cx="132588" cy="13258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670520" y="2935039"/>
            <a:ext cx="224975" cy="16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612"/>
              </a:lnSpc>
              <a:buNone/>
            </a:pPr>
            <a:r>
              <a:rPr lang="en-US" sz="510" b="1" kern="0" spc="36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br/>
            <a:r>
              <a:rPr lang="en-US" sz="510" b="1" kern="0" spc="36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510" dirty="0"/>
          </a:p>
        </p:txBody>
      </p:sp>
      <p:sp>
        <p:nvSpPr>
          <p:cNvPr id="33" name="Text 26"/>
          <p:cNvSpPr/>
          <p:nvPr/>
        </p:nvSpPr>
        <p:spPr>
          <a:xfrm>
            <a:off x="5003124" y="2743051"/>
            <a:ext cx="453777" cy="414040"/>
          </a:xfrm>
          <a:prstGeom prst="roundRect">
            <a:avLst>
              <a:gd name="adj" fmla="val 13803"/>
            </a:avLst>
          </a:prstGeom>
          <a:solidFill>
            <a:srgbClr val="3B82F6">
              <a:alpha val="8000"/>
            </a:srgbClr>
          </a:solidFill>
          <a:ln w="9525">
            <a:solidFill>
              <a:srgbClr val="3B82F6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63644" y="2791504"/>
            <a:ext cx="132588" cy="13258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052325" y="2935039"/>
            <a:ext cx="355375" cy="16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612"/>
              </a:lnSpc>
              <a:buNone/>
            </a:pPr>
            <a:r>
              <a:rPr lang="en-US" sz="510" b="1" kern="0" spc="36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br/>
            <a:r>
              <a:rPr lang="en-US" sz="510" b="1" kern="0" spc="36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</a:t>
            </a:r>
            <a:endParaRPr lang="en-US" sz="510" dirty="0"/>
          </a:p>
        </p:txBody>
      </p:sp>
      <p:sp>
        <p:nvSpPr>
          <p:cNvPr id="36" name="Text 28"/>
          <p:cNvSpPr/>
          <p:nvPr/>
        </p:nvSpPr>
        <p:spPr>
          <a:xfrm>
            <a:off x="5514051" y="2743051"/>
            <a:ext cx="416719" cy="414040"/>
          </a:xfrm>
          <a:prstGeom prst="roundRect">
            <a:avLst>
              <a:gd name="adj" fmla="val 13803"/>
            </a:avLst>
          </a:prstGeom>
          <a:solidFill>
            <a:srgbClr val="3B82F6">
              <a:alpha val="8000"/>
            </a:srgbClr>
          </a:solidFill>
          <a:ln w="9525">
            <a:solidFill>
              <a:srgbClr val="3B82F6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6117" y="2791504"/>
            <a:ext cx="132588" cy="13258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563623" y="2935039"/>
            <a:ext cx="317575" cy="16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612"/>
              </a:lnSpc>
              <a:buNone/>
            </a:pPr>
            <a:r>
              <a:rPr lang="en-US" sz="510" b="1" kern="0" spc="36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br/>
            <a:r>
              <a:rPr lang="en-US" sz="510" b="1" kern="0" spc="36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</a:t>
            </a:r>
            <a:endParaRPr lang="en-US" sz="510" dirty="0"/>
          </a:p>
        </p:txBody>
      </p:sp>
      <p:sp>
        <p:nvSpPr>
          <p:cNvPr id="39" name="Text 30"/>
          <p:cNvSpPr/>
          <p:nvPr/>
        </p:nvSpPr>
        <p:spPr>
          <a:xfrm>
            <a:off x="5987920" y="2743051"/>
            <a:ext cx="425053" cy="414040"/>
          </a:xfrm>
          <a:prstGeom prst="roundRect">
            <a:avLst>
              <a:gd name="adj" fmla="val 13803"/>
            </a:avLst>
          </a:prstGeom>
          <a:solidFill>
            <a:srgbClr val="3B82F6">
              <a:alpha val="8000"/>
            </a:srgbClr>
          </a:solidFill>
          <a:ln w="9525">
            <a:solidFill>
              <a:srgbClr val="3B82F6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34152" y="2791504"/>
            <a:ext cx="132588" cy="132588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6037408" y="2935039"/>
            <a:ext cx="326076" cy="16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612"/>
              </a:lnSpc>
              <a:buNone/>
            </a:pPr>
            <a:r>
              <a:rPr lang="en-US" sz="510" b="1" kern="0" spc="36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</a:t>
            </a:r>
            <a:br/>
            <a:r>
              <a:rPr lang="en-US" sz="510" b="1" kern="0" spc="36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5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B82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B82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785515"/>
            <a:ext cx="3000970" cy="3572470"/>
          </a:xfrm>
          <a:prstGeom prst="rect">
            <a:avLst/>
          </a:prstGeom>
          <a:gradFill rotWithShape="1">
            <a:gsLst>
              <a:gs pos="0">
                <a:srgbClr val="3B82F6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43030" y="785515"/>
            <a:ext cx="3000970" cy="3572470"/>
          </a:xfrm>
          <a:prstGeom prst="rect">
            <a:avLst/>
          </a:prstGeom>
          <a:gradFill rotWithShape="1">
            <a:gsLst>
              <a:gs pos="0">
                <a:srgbClr val="14B8A6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4786759"/>
            <a:ext cx="9144000" cy="356741"/>
          </a:xfrm>
          <a:prstGeom prst="rect">
            <a:avLst/>
          </a:prstGeom>
          <a:gradFill rotWithShape="1">
            <a:gsLst>
              <a:gs pos="0">
                <a:srgbClr val="3B82F6">
                  <a:alpha val="8000"/>
                </a:srgbClr>
              </a:gs>
              <a:gs pos="100000">
                <a:srgbClr val="14B8A6">
                  <a:alpha val="8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4786759"/>
            <a:ext cx="914400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93290" y="4903524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973437" y="4900315"/>
            <a:ext cx="368906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agents propose; the deterministic cage validates before execution. Both flows converge on the append-only truth chain.</a:t>
            </a:r>
            <a:endParaRPr lang="en-US" sz="730" dirty="0"/>
          </a:p>
        </p:txBody>
      </p:sp>
      <p:sp>
        <p:nvSpPr>
          <p:cNvPr id="10" name="Text 7"/>
          <p:cNvSpPr/>
          <p:nvPr/>
        </p:nvSpPr>
        <p:spPr>
          <a:xfrm>
            <a:off x="342900" y="257770"/>
            <a:ext cx="1122164" cy="198254"/>
          </a:xfrm>
          <a:prstGeom prst="roundRect">
            <a:avLst>
              <a:gd name="adj" fmla="val 14734"/>
            </a:avLst>
          </a:prstGeom>
          <a:solidFill>
            <a:srgbClr val="3B82F6">
              <a:alpha val="12000"/>
            </a:srgbClr>
          </a:solidFill>
          <a:ln w="9525">
            <a:solidFill>
              <a:srgbClr val="3B82F6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GOVERNANCE</a:t>
            </a:r>
            <a:endParaRPr lang="en-US" sz="62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9092" y="281517"/>
            <a:ext cx="132588" cy="1325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" y="581471"/>
            <a:ext cx="9050274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spcAft>
                <a:spcPts val="230"/>
              </a:spcAft>
              <a:buNone/>
            </a:pPr>
            <a:r>
              <a:rPr lang="en-US" sz="2250" kern="0" spc="-22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Bifurcated Governance </a:t>
            </a:r>
            <a:r>
              <a:rPr lang="en-US" sz="2250" kern="0" spc="-22" dirty="0">
                <a:solidFill>
                  <a:srgbClr val="8B9F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Proposers Inside the Cage</a:t>
            </a:r>
            <a:endParaRPr lang="en-US" sz="2250" dirty="0"/>
          </a:p>
        </p:txBody>
      </p:sp>
      <p:sp>
        <p:nvSpPr>
          <p:cNvPr id="13" name="Text 9"/>
          <p:cNvSpPr/>
          <p:nvPr/>
        </p:nvSpPr>
        <p:spPr>
          <a:xfrm>
            <a:off x="342900" y="938957"/>
            <a:ext cx="2000250" cy="1384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3B82F6"/>
              </a:gs>
              <a:gs pos="50000">
                <a:srgbClr val="14B8A6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42900" y="1110258"/>
            <a:ext cx="3728740" cy="3604022"/>
          </a:xfrm>
          <a:prstGeom prst="roundRect">
            <a:avLst>
              <a:gd name="adj" fmla="val 2396"/>
            </a:avLst>
          </a:prstGeom>
          <a:gradFill rotWithShape="1">
            <a:gsLst>
              <a:gs pos="0">
                <a:srgbClr val="0D1A35"/>
              </a:gs>
              <a:gs pos="60000">
                <a:srgbClr val="111D3A"/>
              </a:gs>
              <a:gs pos="100000">
                <a:srgbClr val="0E1A33"/>
              </a:gs>
            </a:gsLst>
            <a:lin ang="3300000" scaled="1"/>
          </a:gradFill>
          <a:ln w="9525">
            <a:solidFill>
              <a:srgbClr val="3B82F6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352425" y="1119783"/>
            <a:ext cx="3709690" cy="21580"/>
          </a:xfrm>
          <a:prstGeom prst="roundRect">
            <a:avLst>
              <a:gd name="adj" fmla="val 400186"/>
            </a:avLst>
          </a:prstGeom>
          <a:gradFill rotWithShape="1">
            <a:gsLst>
              <a:gs pos="0">
                <a:srgbClr val="3B82F6"/>
              </a:gs>
              <a:gs pos="100000">
                <a:srgbClr val="3B82F6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53045" y="1320403"/>
            <a:ext cx="372070" cy="372070"/>
          </a:xfrm>
          <a:prstGeom prst="roundRect">
            <a:avLst>
              <a:gd name="adj" fmla="val 19115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3773" y="1431131"/>
            <a:ext cx="150465" cy="15046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25426" y="1352996"/>
            <a:ext cx="89828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99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</a:t>
            </a:r>
            <a:endParaRPr lang="en-US" sz="620" dirty="0"/>
          </a:p>
        </p:txBody>
      </p:sp>
      <p:sp>
        <p:nvSpPr>
          <p:cNvPr id="19" name="Text 14"/>
          <p:cNvSpPr/>
          <p:nvPr/>
        </p:nvSpPr>
        <p:spPr>
          <a:xfrm>
            <a:off x="1025426" y="1471017"/>
            <a:ext cx="898282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8"/>
              </a:lnSpc>
              <a:buNone/>
            </a:pPr>
            <a:r>
              <a:rPr lang="en-US" sz="1240" b="1" kern="0" spc="12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DETERMINISTIC</a:t>
            </a:r>
            <a:endParaRPr lang="en-US" sz="1240" dirty="0"/>
          </a:p>
        </p:txBody>
      </p:sp>
      <p:sp>
        <p:nvSpPr>
          <p:cNvPr id="20" name="Text 15"/>
          <p:cNvSpPr/>
          <p:nvPr/>
        </p:nvSpPr>
        <p:spPr>
          <a:xfrm>
            <a:off x="3096518" y="1431429"/>
            <a:ext cx="764977" cy="164857"/>
          </a:xfrm>
          <a:prstGeom prst="roundRect">
            <a:avLst>
              <a:gd name="adj" fmla="val 17718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JASPER LINEAGE</a:t>
            </a:r>
            <a:endParaRPr lang="en-US" sz="560" dirty="0"/>
          </a:p>
        </p:txBody>
      </p:sp>
      <p:sp>
        <p:nvSpPr>
          <p:cNvPr id="21" name="Text 16"/>
          <p:cNvSpPr/>
          <p:nvPr/>
        </p:nvSpPr>
        <p:spPr>
          <a:xfrm>
            <a:off x="553045" y="1792784"/>
            <a:ext cx="3374618" cy="694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2"/>
              </a:lnSpc>
              <a:buNone/>
            </a:pPr>
            <a:r>
              <a:rPr lang="en-US" sz="84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pure deterministic runtime. Every input and output is validated against invariant boundaries — same inputs, identical outputs, byte-for-byte under replay, regardless of timing or host instance.</a:t>
            </a:r>
            <a:endParaRPr lang="en-US" sz="840" dirty="0"/>
          </a:p>
        </p:txBody>
      </p:sp>
      <p:sp>
        <p:nvSpPr>
          <p:cNvPr id="22" name="Text 17"/>
          <p:cNvSpPr/>
          <p:nvPr/>
        </p:nvSpPr>
        <p:spPr>
          <a:xfrm>
            <a:off x="685354" y="2554486"/>
            <a:ext cx="232649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validation before and after every state mutation</a:t>
            </a:r>
            <a:endParaRPr lang="en-US" sz="73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4330" y="2557620"/>
            <a:ext cx="132588" cy="1325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5354" y="2750641"/>
            <a:ext cx="217932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ordering enforced by the Constitutional Core</a:t>
            </a:r>
            <a:endParaRPr lang="en-US" sz="73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4330" y="2753776"/>
            <a:ext cx="132588" cy="1325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85354" y="2946797"/>
            <a:ext cx="211711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probabilistic component inside the trust boundary</a:t>
            </a:r>
            <a:endParaRPr lang="en-US" sz="73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4330" y="2949931"/>
            <a:ext cx="132588" cy="13258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53045" y="3243263"/>
            <a:ext cx="3308449" cy="450503"/>
          </a:xfrm>
          <a:prstGeom prst="roundRect">
            <a:avLst>
              <a:gd name="adj" fmla="val 12686"/>
            </a:avLst>
          </a:prstGeom>
          <a:solidFill>
            <a:srgbClr val="3B82F6">
              <a:alpha val="8000"/>
            </a:srgbClr>
          </a:solidFill>
          <a:ln w="9525">
            <a:solidFill>
              <a:srgbClr val="3B82F6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4658" y="3402145"/>
            <a:ext cx="132588" cy="13258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30014" y="3323779"/>
            <a:ext cx="90286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74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</a:t>
            </a:r>
            <a:endParaRPr lang="en-US" sz="620" dirty="0"/>
          </a:p>
        </p:txBody>
      </p:sp>
      <p:sp>
        <p:nvSpPr>
          <p:cNvPr id="31" name="Text 22"/>
          <p:cNvSpPr/>
          <p:nvPr/>
        </p:nvSpPr>
        <p:spPr>
          <a:xfrm>
            <a:off x="830014" y="3441799"/>
            <a:ext cx="90286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</a:t>
            </a:r>
            <a:endParaRPr lang="en-US" sz="135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96655" y="1626394"/>
            <a:ext cx="750540" cy="257175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072360" y="1110258"/>
            <a:ext cx="3728740" cy="3604022"/>
          </a:xfrm>
          <a:prstGeom prst="roundRect">
            <a:avLst>
              <a:gd name="adj" fmla="val 2396"/>
            </a:avLst>
          </a:prstGeom>
          <a:gradFill rotWithShape="1">
            <a:gsLst>
              <a:gs pos="0">
                <a:srgbClr val="0A1E1C"/>
              </a:gs>
              <a:gs pos="60000">
                <a:srgbClr val="0E2220"/>
              </a:gs>
              <a:gs pos="100000">
                <a:srgbClr val="0A1E1C"/>
              </a:gs>
            </a:gsLst>
            <a:lin ang="3300000" scaled="1"/>
          </a:gradFill>
          <a:ln w="9525">
            <a:solidFill>
              <a:srgbClr val="14B8A6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4"/>
          <p:cNvSpPr/>
          <p:nvPr/>
        </p:nvSpPr>
        <p:spPr>
          <a:xfrm>
            <a:off x="5081885" y="1119783"/>
            <a:ext cx="3709690" cy="21580"/>
          </a:xfrm>
          <a:prstGeom prst="roundRect">
            <a:avLst>
              <a:gd name="adj" fmla="val 400186"/>
            </a:avLst>
          </a:prstGeom>
          <a:gradFill rotWithShape="1">
            <a:gsLst>
              <a:gs pos="0">
                <a:srgbClr val="14B8A6"/>
              </a:gs>
              <a:gs pos="100000">
                <a:srgbClr val="14B8A6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5"/>
          <p:cNvSpPr/>
          <p:nvPr/>
        </p:nvSpPr>
        <p:spPr>
          <a:xfrm>
            <a:off x="5282505" y="1320403"/>
            <a:ext cx="372070" cy="372070"/>
          </a:xfrm>
          <a:prstGeom prst="roundRect">
            <a:avLst>
              <a:gd name="adj" fmla="val 19115"/>
            </a:avLst>
          </a:prstGeom>
          <a:solidFill>
            <a:srgbClr val="14B8A6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393234" y="1431131"/>
            <a:ext cx="150465" cy="150465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754886" y="1352996"/>
            <a:ext cx="102499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99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</a:t>
            </a:r>
            <a:endParaRPr lang="en-US" sz="620" dirty="0"/>
          </a:p>
        </p:txBody>
      </p:sp>
      <p:sp>
        <p:nvSpPr>
          <p:cNvPr id="38" name="Text 27"/>
          <p:cNvSpPr/>
          <p:nvPr/>
        </p:nvSpPr>
        <p:spPr>
          <a:xfrm>
            <a:off x="5754886" y="1471017"/>
            <a:ext cx="1024994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88"/>
              </a:lnSpc>
              <a:buNone/>
            </a:pPr>
            <a:r>
              <a:rPr lang="en-US" sz="1240" b="1" kern="0" spc="12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BIFURCATED</a:t>
            </a:r>
            <a:endParaRPr lang="en-US" sz="1240" dirty="0"/>
          </a:p>
        </p:txBody>
      </p:sp>
      <p:sp>
        <p:nvSpPr>
          <p:cNvPr id="39" name="Text 28"/>
          <p:cNvSpPr/>
          <p:nvPr/>
        </p:nvSpPr>
        <p:spPr>
          <a:xfrm>
            <a:off x="7898904" y="1431429"/>
            <a:ext cx="692051" cy="164857"/>
          </a:xfrm>
          <a:prstGeom prst="roundRect">
            <a:avLst>
              <a:gd name="adj" fmla="val 17718"/>
            </a:avLst>
          </a:prstGeom>
          <a:solidFill>
            <a:srgbClr val="14B8A6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GILLIAN LINEAGE</a:t>
            </a:r>
            <a:endParaRPr lang="en-US" sz="560" dirty="0"/>
          </a:p>
        </p:txBody>
      </p:sp>
      <p:sp>
        <p:nvSpPr>
          <p:cNvPr id="40" name="Text 29"/>
          <p:cNvSpPr/>
          <p:nvPr/>
        </p:nvSpPr>
        <p:spPr>
          <a:xfrm>
            <a:off x="5282505" y="1792784"/>
            <a:ext cx="3374618" cy="520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2"/>
              </a:lnSpc>
              <a:buNone/>
            </a:pPr>
            <a:r>
              <a:rPr lang="en-US" sz="84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bifurcated runtime. LLM-backed agents and the neural mesh propose — anomaly classifications, healing actions, next steps. Wrongness is a design input: every proposal is cage-validated before it can execute.</a:t>
            </a:r>
            <a:endParaRPr lang="en-US" sz="840" dirty="0"/>
          </a:p>
        </p:txBody>
      </p:sp>
      <p:sp>
        <p:nvSpPr>
          <p:cNvPr id="41" name="Text 30"/>
          <p:cNvSpPr/>
          <p:nvPr/>
        </p:nvSpPr>
        <p:spPr>
          <a:xfrm>
            <a:off x="5414814" y="2389138"/>
            <a:ext cx="225282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Sub-confidence-threshold detections gated — never auto-executed</a:t>
            </a:r>
            <a:endParaRPr lang="en-US" sz="730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53791" y="2392272"/>
            <a:ext cx="132588" cy="132588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5414814" y="2585293"/>
            <a:ext cx="188480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financial flows require human acknowledgment — structural, not model-decided</a:t>
            </a:r>
            <a:endParaRPr lang="en-US" sz="730" dirty="0"/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253791" y="2588428"/>
            <a:ext cx="132588" cy="132588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5414814" y="2781449"/>
            <a:ext cx="207143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SIM-A (hosted) + SIM-B (client-side) bifurcated chaos streams</a:t>
            </a:r>
            <a:endParaRPr lang="en-US" sz="730" dirty="0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253791" y="2784583"/>
            <a:ext cx="132588" cy="132588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5282505" y="3077914"/>
            <a:ext cx="3308449" cy="450503"/>
          </a:xfrm>
          <a:prstGeom prst="roundRect">
            <a:avLst>
              <a:gd name="adj" fmla="val 12686"/>
            </a:avLst>
          </a:prstGeom>
          <a:solidFill>
            <a:srgbClr val="14B8A6">
              <a:alpha val="8000"/>
            </a:srgbClr>
          </a:solidFill>
          <a:ln w="9525">
            <a:solidFill>
              <a:srgbClr val="14B8A6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374118" y="3236797"/>
            <a:ext cx="132588" cy="132588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5559475" y="3158430"/>
            <a:ext cx="90286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74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RATE</a:t>
            </a:r>
            <a:endParaRPr lang="en-US" sz="620" dirty="0"/>
          </a:p>
        </p:txBody>
      </p:sp>
      <p:sp>
        <p:nvSpPr>
          <p:cNvPr id="50" name="Text 35"/>
          <p:cNvSpPr/>
          <p:nvPr/>
        </p:nvSpPr>
        <p:spPr>
          <a:xfrm>
            <a:off x="5559475" y="3276451"/>
            <a:ext cx="90286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B82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B82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14B8A6"/>
              </a:gs>
              <a:gs pos="100000">
                <a:srgbClr val="3B82F6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071390" y="763935"/>
            <a:ext cx="5001220" cy="3572470"/>
          </a:xfrm>
          <a:prstGeom prst="rect">
            <a:avLst/>
          </a:prstGeom>
          <a:gradFill rotWithShape="1">
            <a:gsLst>
              <a:gs pos="0">
                <a:srgbClr val="3B82F6">
                  <a:alpha val="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5750" y="157460"/>
            <a:ext cx="1505599" cy="184100"/>
          </a:xfrm>
          <a:prstGeom prst="roundRect">
            <a:avLst>
              <a:gd name="adj" fmla="val 15866"/>
            </a:avLst>
          </a:prstGeom>
          <a:solidFill>
            <a:srgbClr val="3B82F6">
              <a:alpha val="12000"/>
            </a:srgbClr>
          </a:solidFill>
          <a:ln w="9525">
            <a:solidFill>
              <a:srgbClr val="3B82F6">
                <a:alpha val="30000"/>
              </a:srgbClr>
            </a:solidFill>
          </a:ln>
        </p:spPr>
        <p:txBody>
          <a:bodyPr wrap="none" lIns="172403" tIns="29210" rIns="86360" bIns="29210" rtlCol="0" anchor="ctr"/>
          <a:lstStyle/>
          <a:p>
            <a:pPr marL="0" indent="0" algn="l">
              <a:buNone/>
            </a:pPr>
            <a:r>
              <a:rPr lang="en-US" sz="560" b="1" kern="0" spc="11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56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6733" y="183142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85750" y="384721"/>
            <a:ext cx="2602513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60"/>
              </a:lnSpc>
              <a:spcBef>
                <a:spcPts val="340"/>
              </a:spcBef>
              <a:buNone/>
            </a:pPr>
            <a:r>
              <a:rPr lang="en-US" sz="1240" kern="0" spc="3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Bifurcated Governance </a:t>
            </a:r>
            <a:r>
              <a:rPr lang="en-US" sz="1240" b="1" kern="0" spc="30" dirty="0">
                <a:solidFill>
                  <a:srgbClr val="3B82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Execution Flow</a:t>
            </a:r>
            <a:endParaRPr lang="en-US" sz="1240" dirty="0"/>
          </a:p>
        </p:txBody>
      </p:sp>
      <p:sp>
        <p:nvSpPr>
          <p:cNvPr id="9" name="Text 6"/>
          <p:cNvSpPr/>
          <p:nvPr/>
        </p:nvSpPr>
        <p:spPr>
          <a:xfrm>
            <a:off x="7705427" y="335756"/>
            <a:ext cx="126810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8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 · ARCHITECTURE</a:t>
            </a:r>
            <a:endParaRPr lang="en-US" sz="56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5750" y="543520"/>
            <a:ext cx="6429375" cy="345371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31929">
              <a:alpha val="9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0" y="4914900"/>
            <a:ext cx="9144000" cy="9525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228600" y="5005388"/>
            <a:ext cx="57150" cy="57150"/>
          </a:xfrm>
          <a:prstGeom prst="ellipse">
            <a:avLst/>
          </a:prstGeom>
          <a:solidFill>
            <a:srgbClr val="3B82F6"/>
          </a:solidFill>
          <a:ln/>
          <a:effectLst>
            <a:outerShdw blurRad="43180" dist="50800" dir="16200000" algn="bl" rotWithShape="0">
              <a:srgbClr val="3B82F6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28910" y="4991100"/>
            <a:ext cx="79170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— PATH A</a:t>
            </a:r>
            <a:endParaRPr lang="en-US" sz="450" dirty="0"/>
          </a:p>
        </p:txBody>
      </p:sp>
      <p:sp>
        <p:nvSpPr>
          <p:cNvPr id="15" name="Text 11"/>
          <p:cNvSpPr/>
          <p:nvPr/>
        </p:nvSpPr>
        <p:spPr>
          <a:xfrm>
            <a:off x="1192113" y="5005388"/>
            <a:ext cx="57150" cy="57150"/>
          </a:xfrm>
          <a:prstGeom prst="ellipse">
            <a:avLst/>
          </a:prstGeom>
          <a:solidFill>
            <a:srgbClr val="14B8A6"/>
          </a:solidFill>
          <a:ln/>
          <a:effectLst>
            <a:outerShdw blurRad="43180" dist="50800" dir="16200000" algn="bl" rotWithShape="0">
              <a:srgbClr val="14B8A6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1292423" y="4991100"/>
            <a:ext cx="848023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BIFURCATED — PATH B</a:t>
            </a:r>
            <a:endParaRPr lang="en-US" sz="450" dirty="0"/>
          </a:p>
        </p:txBody>
      </p:sp>
      <p:sp>
        <p:nvSpPr>
          <p:cNvPr id="17" name="Text 13"/>
          <p:cNvSpPr/>
          <p:nvPr/>
        </p:nvSpPr>
        <p:spPr>
          <a:xfrm>
            <a:off x="2206823" y="5005388"/>
            <a:ext cx="57150" cy="57150"/>
          </a:xfrm>
          <a:prstGeom prst="ellipse">
            <a:avLst/>
          </a:prstGeom>
          <a:solidFill>
            <a:srgbClr val="22C55E"/>
          </a:solidFill>
          <a:ln/>
          <a:effectLst>
            <a:outerShdw blurRad="43180" dist="50800" dir="16200000" algn="bl" rotWithShape="0">
              <a:srgbClr val="22C55E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2307134" y="4991100"/>
            <a:ext cx="738173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STATE</a:t>
            </a:r>
            <a:endParaRPr lang="en-US" sz="450" dirty="0"/>
          </a:p>
        </p:txBody>
      </p:sp>
      <p:sp>
        <p:nvSpPr>
          <p:cNvPr id="19" name="Text 15"/>
          <p:cNvSpPr/>
          <p:nvPr/>
        </p:nvSpPr>
        <p:spPr>
          <a:xfrm>
            <a:off x="6828681" y="4991100"/>
            <a:ext cx="2295391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kern="0" spc="70" dirty="0">
                <a:solidFill>
                  <a:srgbClr val="4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RUNTIME ARCHITECTURE · PUBLIC EDITION</a:t>
            </a:r>
            <a:endParaRPr lang="en-US" sz="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B82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B82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00750" y="0"/>
            <a:ext cx="3143250" cy="3143250"/>
          </a:xfrm>
          <a:prstGeom prst="ellipse">
            <a:avLst/>
          </a:prstGeom>
          <a:gradFill rotWithShape="1">
            <a:gsLst>
              <a:gs pos="0">
                <a:srgbClr val="3B82F6">
                  <a:alpha val="13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2999780"/>
            <a:ext cx="2429470" cy="2143720"/>
          </a:xfrm>
          <a:prstGeom prst="ellipse">
            <a:avLst/>
          </a:prstGeom>
          <a:gradFill rotWithShape="1">
            <a:gsLst>
              <a:gs pos="0">
                <a:srgbClr val="3B82F6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2158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3B82F6"/>
              </a:gs>
              <a:gs pos="70000">
                <a:srgbClr val="3B82F6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8745" y="1455093"/>
            <a:ext cx="2844851" cy="13841"/>
          </a:xfrm>
          <a:custGeom>
            <a:avLst/>
            <a:gdLst/>
            <a:ahLst/>
            <a:cxnLst/>
            <a:rect l="l" t="t" r="r" b="b"/>
            <a:pathLst>
              <a:path w="2844851" h="13841">
                <a:moveTo>
                  <a:pt x="114300" y="0"/>
                </a:moveTo>
                <a:lnTo>
                  <a:pt x="2730551" y="0"/>
                </a:lnTo>
                <a:lnTo>
                  <a:pt x="2750363" y="1730"/>
                </a:lnTo>
                <a:lnTo>
                  <a:pt x="2758462" y="3460"/>
                </a:lnTo>
                <a:lnTo>
                  <a:pt x="2764603" y="5190"/>
                </a:lnTo>
                <a:lnTo>
                  <a:pt x="2769719" y="6920"/>
                </a:lnTo>
                <a:lnTo>
                  <a:pt x="2774171" y="8651"/>
                </a:lnTo>
                <a:lnTo>
                  <a:pt x="2778146" y="10381"/>
                </a:lnTo>
                <a:lnTo>
                  <a:pt x="2781755" y="12111"/>
                </a:lnTo>
                <a:lnTo>
                  <a:pt x="2785071" y="13841"/>
                </a:lnTo>
                <a:lnTo>
                  <a:pt x="59780" y="13841"/>
                </a:lnTo>
                <a:lnTo>
                  <a:pt x="63096" y="12111"/>
                </a:lnTo>
                <a:lnTo>
                  <a:pt x="66705" y="10381"/>
                </a:lnTo>
                <a:lnTo>
                  <a:pt x="70680" y="8651"/>
                </a:lnTo>
                <a:lnTo>
                  <a:pt x="75132" y="6920"/>
                </a:lnTo>
                <a:lnTo>
                  <a:pt x="80247" y="5190"/>
                </a:lnTo>
                <a:lnTo>
                  <a:pt x="86389" y="3460"/>
                </a:lnTo>
                <a:lnTo>
                  <a:pt x="9448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40000">
                <a:srgbClr val="3B82F6"/>
              </a:gs>
              <a:gs pos="100000">
                <a:srgbClr val="3B82F6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426499" y="1526213"/>
            <a:ext cx="786110" cy="786110"/>
          </a:xfrm>
          <a:prstGeom prst="ellipse">
            <a:avLst/>
          </a:prstGeom>
          <a:gradFill rotWithShape="1">
            <a:gsLst>
              <a:gs pos="0">
                <a:srgbClr val="3B82F6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30786" y="1455093"/>
            <a:ext cx="2845003" cy="13841"/>
          </a:xfrm>
          <a:custGeom>
            <a:avLst/>
            <a:gdLst/>
            <a:ahLst/>
            <a:cxnLst/>
            <a:rect l="l" t="t" r="r" b="b"/>
            <a:pathLst>
              <a:path w="2845003" h="13841">
                <a:moveTo>
                  <a:pt x="114300" y="0"/>
                </a:moveTo>
                <a:lnTo>
                  <a:pt x="2730703" y="0"/>
                </a:lnTo>
                <a:lnTo>
                  <a:pt x="2750515" y="1730"/>
                </a:lnTo>
                <a:lnTo>
                  <a:pt x="2758614" y="3460"/>
                </a:lnTo>
                <a:lnTo>
                  <a:pt x="2764756" y="5190"/>
                </a:lnTo>
                <a:lnTo>
                  <a:pt x="2769871" y="6920"/>
                </a:lnTo>
                <a:lnTo>
                  <a:pt x="2774323" y="8651"/>
                </a:lnTo>
                <a:lnTo>
                  <a:pt x="2778298" y="10381"/>
                </a:lnTo>
                <a:lnTo>
                  <a:pt x="2781907" y="12111"/>
                </a:lnTo>
                <a:lnTo>
                  <a:pt x="2785224" y="13841"/>
                </a:lnTo>
                <a:lnTo>
                  <a:pt x="59780" y="13841"/>
                </a:lnTo>
                <a:lnTo>
                  <a:pt x="63096" y="12111"/>
                </a:lnTo>
                <a:lnTo>
                  <a:pt x="66705" y="10381"/>
                </a:lnTo>
                <a:lnTo>
                  <a:pt x="70680" y="8651"/>
                </a:lnTo>
                <a:lnTo>
                  <a:pt x="75132" y="6920"/>
                </a:lnTo>
                <a:lnTo>
                  <a:pt x="80247" y="5190"/>
                </a:lnTo>
                <a:lnTo>
                  <a:pt x="86389" y="3460"/>
                </a:lnTo>
                <a:lnTo>
                  <a:pt x="9448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40000">
                <a:srgbClr val="3B82F6"/>
              </a:gs>
              <a:gs pos="100000">
                <a:srgbClr val="3B82F6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18682" y="1526213"/>
            <a:ext cx="786110" cy="786110"/>
          </a:xfrm>
          <a:prstGeom prst="ellipse">
            <a:avLst/>
          </a:prstGeom>
          <a:gradFill rotWithShape="1">
            <a:gsLst>
              <a:gs pos="0">
                <a:srgbClr val="3B82F6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8745" y="3001566"/>
            <a:ext cx="2844851" cy="13841"/>
          </a:xfrm>
          <a:custGeom>
            <a:avLst/>
            <a:gdLst/>
            <a:ahLst/>
            <a:cxnLst/>
            <a:rect l="l" t="t" r="r" b="b"/>
            <a:pathLst>
              <a:path w="2844851" h="13841">
                <a:moveTo>
                  <a:pt x="114300" y="0"/>
                </a:moveTo>
                <a:lnTo>
                  <a:pt x="2730551" y="0"/>
                </a:lnTo>
                <a:lnTo>
                  <a:pt x="2750363" y="1730"/>
                </a:lnTo>
                <a:lnTo>
                  <a:pt x="2758462" y="3460"/>
                </a:lnTo>
                <a:lnTo>
                  <a:pt x="2764603" y="5190"/>
                </a:lnTo>
                <a:lnTo>
                  <a:pt x="2769719" y="6920"/>
                </a:lnTo>
                <a:lnTo>
                  <a:pt x="2774171" y="8651"/>
                </a:lnTo>
                <a:lnTo>
                  <a:pt x="2778146" y="10381"/>
                </a:lnTo>
                <a:lnTo>
                  <a:pt x="2781755" y="12111"/>
                </a:lnTo>
                <a:lnTo>
                  <a:pt x="2785071" y="13841"/>
                </a:lnTo>
                <a:lnTo>
                  <a:pt x="59780" y="13841"/>
                </a:lnTo>
                <a:lnTo>
                  <a:pt x="63096" y="12111"/>
                </a:lnTo>
                <a:lnTo>
                  <a:pt x="66705" y="10381"/>
                </a:lnTo>
                <a:lnTo>
                  <a:pt x="70680" y="8651"/>
                </a:lnTo>
                <a:lnTo>
                  <a:pt x="75132" y="6920"/>
                </a:lnTo>
                <a:lnTo>
                  <a:pt x="80247" y="5190"/>
                </a:lnTo>
                <a:lnTo>
                  <a:pt x="86389" y="3460"/>
                </a:lnTo>
                <a:lnTo>
                  <a:pt x="9448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40000">
                <a:srgbClr val="3B82F6"/>
              </a:gs>
              <a:gs pos="100000">
                <a:srgbClr val="3B82F6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426499" y="3072686"/>
            <a:ext cx="786110" cy="786110"/>
          </a:xfrm>
          <a:prstGeom prst="ellipse">
            <a:avLst/>
          </a:prstGeom>
          <a:gradFill rotWithShape="1">
            <a:gsLst>
              <a:gs pos="0">
                <a:srgbClr val="3B82F6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30786" y="3001566"/>
            <a:ext cx="2845003" cy="13841"/>
          </a:xfrm>
          <a:custGeom>
            <a:avLst/>
            <a:gdLst/>
            <a:ahLst/>
            <a:cxnLst/>
            <a:rect l="l" t="t" r="r" b="b"/>
            <a:pathLst>
              <a:path w="2845003" h="13841">
                <a:moveTo>
                  <a:pt x="114300" y="0"/>
                </a:moveTo>
                <a:lnTo>
                  <a:pt x="2730703" y="0"/>
                </a:lnTo>
                <a:lnTo>
                  <a:pt x="2750515" y="1730"/>
                </a:lnTo>
                <a:lnTo>
                  <a:pt x="2758614" y="3460"/>
                </a:lnTo>
                <a:lnTo>
                  <a:pt x="2764756" y="5190"/>
                </a:lnTo>
                <a:lnTo>
                  <a:pt x="2769871" y="6920"/>
                </a:lnTo>
                <a:lnTo>
                  <a:pt x="2774323" y="8651"/>
                </a:lnTo>
                <a:lnTo>
                  <a:pt x="2778298" y="10381"/>
                </a:lnTo>
                <a:lnTo>
                  <a:pt x="2781907" y="12111"/>
                </a:lnTo>
                <a:lnTo>
                  <a:pt x="2785224" y="13841"/>
                </a:lnTo>
                <a:lnTo>
                  <a:pt x="59780" y="13841"/>
                </a:lnTo>
                <a:lnTo>
                  <a:pt x="63096" y="12111"/>
                </a:lnTo>
                <a:lnTo>
                  <a:pt x="66705" y="10381"/>
                </a:lnTo>
                <a:lnTo>
                  <a:pt x="70680" y="8651"/>
                </a:lnTo>
                <a:lnTo>
                  <a:pt x="75132" y="6920"/>
                </a:lnTo>
                <a:lnTo>
                  <a:pt x="80247" y="5190"/>
                </a:lnTo>
                <a:lnTo>
                  <a:pt x="86389" y="3460"/>
                </a:lnTo>
                <a:lnTo>
                  <a:pt x="9448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40000">
                <a:srgbClr val="3B82F6"/>
              </a:gs>
              <a:gs pos="100000">
                <a:srgbClr val="3B82F6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18682" y="3072686"/>
            <a:ext cx="786110" cy="786110"/>
          </a:xfrm>
          <a:prstGeom prst="ellipse">
            <a:avLst/>
          </a:prstGeom>
          <a:gradFill rotWithShape="1">
            <a:gsLst>
              <a:gs pos="0">
                <a:srgbClr val="3B82F6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29220" y="314920"/>
            <a:ext cx="1224855" cy="228704"/>
          </a:xfrm>
          <a:prstGeom prst="roundRect">
            <a:avLst>
              <a:gd name="adj" fmla="val 62749"/>
            </a:avLst>
          </a:prstGeom>
          <a:solidFill>
            <a:srgbClr val="3B82F6">
              <a:alpha val="15000"/>
            </a:srgbClr>
          </a:solidFill>
          <a:ln w="9525">
            <a:solidFill>
              <a:srgbClr val="3B82F6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LAYER</a:t>
            </a:r>
            <a:endParaRPr lang="en-US" sz="620" dirty="0"/>
          </a:p>
        </p:txBody>
      </p:sp>
      <p:sp>
        <p:nvSpPr>
          <p:cNvPr id="16" name="Text 14"/>
          <p:cNvSpPr/>
          <p:nvPr/>
        </p:nvSpPr>
        <p:spPr>
          <a:xfrm>
            <a:off x="539055" y="397222"/>
            <a:ext cx="43160" cy="43160"/>
          </a:xfrm>
          <a:prstGeom prst="ellipse">
            <a:avLst/>
          </a:prstGeom>
          <a:solidFill>
            <a:srgbClr val="3B82F6"/>
          </a:solidFill>
          <a:ln/>
          <a:effectLst>
            <a:outerShdw blurRad="43180" dist="50800" dir="16200000" algn="bl" rotWithShape="0">
              <a:srgbClr val="3B82F6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29220" y="593824"/>
            <a:ext cx="6266015" cy="312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61"/>
              </a:lnSpc>
              <a:buNone/>
            </a:pPr>
            <a:r>
              <a:rPr lang="en-US" sz="2140" b="1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Deterministic Mesh</a:t>
            </a:r>
            <a:endParaRPr lang="en-US" sz="2140" dirty="0"/>
          </a:p>
        </p:txBody>
      </p:sp>
      <p:sp>
        <p:nvSpPr>
          <p:cNvPr id="18" name="Text 16"/>
          <p:cNvSpPr/>
          <p:nvPr/>
        </p:nvSpPr>
        <p:spPr>
          <a:xfrm>
            <a:off x="429220" y="1020366"/>
            <a:ext cx="37207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3B82F6"/>
              </a:gs>
              <a:gs pos="100000">
                <a:srgbClr val="3B82F6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29220" y="1142107"/>
            <a:ext cx="534352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 resolves to a single, reproducible, auditable outcome — no probabilistic drift.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429220" y="1445568"/>
            <a:ext cx="2863900" cy="1418332"/>
          </a:xfrm>
          <a:prstGeom prst="roundRect">
            <a:avLst>
              <a:gd name="adj" fmla="val 8059"/>
            </a:avLst>
          </a:prstGeom>
          <a:solidFill>
            <a:srgbClr val="131929"/>
          </a:solidFill>
          <a:ln w="9525">
            <a:solidFill>
              <a:srgbClr val="3B82F6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9366" y="1655713"/>
            <a:ext cx="299591" cy="299591"/>
          </a:xfrm>
          <a:prstGeom prst="roundRect">
            <a:avLst>
              <a:gd name="adj" fmla="val 23739"/>
            </a:avLst>
          </a:prstGeom>
          <a:solidFill>
            <a:srgbClr val="3B82F6">
              <a:alpha val="12000"/>
            </a:srgbClr>
          </a:solidFill>
          <a:ln w="9525">
            <a:solidFill>
              <a:srgbClr val="3B82F6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867" y="1739214"/>
            <a:ext cx="132588" cy="13258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39366" y="2055614"/>
            <a:ext cx="104075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b="1" kern="0" spc="-63" dirty="0">
                <a:solidFill>
                  <a:srgbClr val="3B82F6"/>
                </a:solidFill>
                <a:effectLst>
                  <a:glow rad="714375">
                    <a:srgbClr val="3B82F6">
                      <a:alpha val="135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</a:t>
            </a:r>
            <a:endParaRPr lang="en-US" sz="3150" dirty="0"/>
          </a:p>
        </p:txBody>
      </p:sp>
      <p:sp>
        <p:nvSpPr>
          <p:cNvPr id="24" name="Text 21"/>
          <p:cNvSpPr/>
          <p:nvPr/>
        </p:nvSpPr>
        <p:spPr>
          <a:xfrm>
            <a:off x="639366" y="2498824"/>
            <a:ext cx="1785431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30" b="1" kern="0" spc="66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REPRODUCIBILITY</a:t>
            </a:r>
            <a:endParaRPr lang="en-US" sz="730" dirty="0"/>
          </a:p>
        </p:txBody>
      </p:sp>
      <p:sp>
        <p:nvSpPr>
          <p:cNvPr id="25" name="Text 22"/>
          <p:cNvSpPr/>
          <p:nvPr/>
        </p:nvSpPr>
        <p:spPr>
          <a:xfrm>
            <a:off x="3421261" y="1445568"/>
            <a:ext cx="2864048" cy="1418332"/>
          </a:xfrm>
          <a:prstGeom prst="roundRect">
            <a:avLst>
              <a:gd name="adj" fmla="val 8059"/>
            </a:avLst>
          </a:prstGeom>
          <a:solidFill>
            <a:srgbClr val="131929"/>
          </a:solidFill>
          <a:ln w="9525">
            <a:solidFill>
              <a:srgbClr val="3B82F6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3631406" y="1655713"/>
            <a:ext cx="299591" cy="299591"/>
          </a:xfrm>
          <a:prstGeom prst="roundRect">
            <a:avLst>
              <a:gd name="adj" fmla="val 23739"/>
            </a:avLst>
          </a:prstGeom>
          <a:solidFill>
            <a:srgbClr val="3B82F6">
              <a:alpha val="12000"/>
            </a:srgbClr>
          </a:solidFill>
          <a:ln w="9525">
            <a:solidFill>
              <a:srgbClr val="3B82F6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908" y="1739214"/>
            <a:ext cx="132588" cy="13258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631406" y="2055614"/>
            <a:ext cx="938555" cy="356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2810" b="1" kern="0" spc="-56" dirty="0">
                <a:solidFill>
                  <a:srgbClr val="3B82F6"/>
                </a:solidFill>
                <a:effectLst>
                  <a:glow rad="714375">
                    <a:srgbClr val="3B82F6">
                      <a:alpha val="135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31</a:t>
            </a:r>
            <a:endParaRPr lang="en-US" sz="2810" dirty="0"/>
          </a:p>
        </p:txBody>
      </p:sp>
      <p:sp>
        <p:nvSpPr>
          <p:cNvPr id="29" name="Text 25"/>
          <p:cNvSpPr/>
          <p:nvPr/>
        </p:nvSpPr>
        <p:spPr>
          <a:xfrm>
            <a:off x="3631406" y="2455664"/>
            <a:ext cx="1296754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30" b="1" kern="0" spc="66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PER APP MESH · 5 LAYERS</a:t>
            </a:r>
            <a:endParaRPr lang="en-US" sz="730" dirty="0"/>
          </a:p>
        </p:txBody>
      </p:sp>
      <p:sp>
        <p:nvSpPr>
          <p:cNvPr id="30" name="Text 26"/>
          <p:cNvSpPr/>
          <p:nvPr/>
        </p:nvSpPr>
        <p:spPr>
          <a:xfrm>
            <a:off x="429220" y="2992041"/>
            <a:ext cx="2863900" cy="1418481"/>
          </a:xfrm>
          <a:prstGeom prst="roundRect">
            <a:avLst>
              <a:gd name="adj" fmla="val 8058"/>
            </a:avLst>
          </a:prstGeom>
          <a:solidFill>
            <a:srgbClr val="131929"/>
          </a:solidFill>
          <a:ln w="9525">
            <a:solidFill>
              <a:srgbClr val="3B82F6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639366" y="3202186"/>
            <a:ext cx="299591" cy="299591"/>
          </a:xfrm>
          <a:prstGeom prst="roundRect">
            <a:avLst>
              <a:gd name="adj" fmla="val 23739"/>
            </a:avLst>
          </a:prstGeom>
          <a:solidFill>
            <a:srgbClr val="3B82F6">
              <a:alpha val="12000"/>
            </a:srgbClr>
          </a:solidFill>
          <a:ln w="9525">
            <a:solidFill>
              <a:srgbClr val="3B82F6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2867" y="3285687"/>
            <a:ext cx="132588" cy="13258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39366" y="3602087"/>
            <a:ext cx="22534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b="1" kern="0" spc="-63" dirty="0">
                <a:solidFill>
                  <a:srgbClr val="3B82F6"/>
                </a:solidFill>
                <a:effectLst>
                  <a:glow rad="714375">
                    <a:srgbClr val="3B82F6">
                      <a:alpha val="135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</a:t>
            </a:r>
            <a:endParaRPr lang="en-US" sz="3150" dirty="0"/>
          </a:p>
        </p:txBody>
      </p:sp>
      <p:sp>
        <p:nvSpPr>
          <p:cNvPr id="34" name="Text 29"/>
          <p:cNvSpPr/>
          <p:nvPr/>
        </p:nvSpPr>
        <p:spPr>
          <a:xfrm>
            <a:off x="639366" y="4045297"/>
            <a:ext cx="1992198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30" b="1" kern="0" spc="66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STATE RESOLUTIONS</a:t>
            </a:r>
            <a:endParaRPr lang="en-US" sz="730" dirty="0"/>
          </a:p>
        </p:txBody>
      </p:sp>
      <p:sp>
        <p:nvSpPr>
          <p:cNvPr id="35" name="Text 30"/>
          <p:cNvSpPr/>
          <p:nvPr/>
        </p:nvSpPr>
        <p:spPr>
          <a:xfrm>
            <a:off x="3421261" y="2992041"/>
            <a:ext cx="2864048" cy="1418481"/>
          </a:xfrm>
          <a:prstGeom prst="roundRect">
            <a:avLst>
              <a:gd name="adj" fmla="val 8058"/>
            </a:avLst>
          </a:prstGeom>
          <a:solidFill>
            <a:srgbClr val="131929"/>
          </a:solidFill>
          <a:ln w="9525">
            <a:solidFill>
              <a:srgbClr val="3B82F6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3631406" y="3202186"/>
            <a:ext cx="299591" cy="299591"/>
          </a:xfrm>
          <a:prstGeom prst="roundRect">
            <a:avLst>
              <a:gd name="adj" fmla="val 23739"/>
            </a:avLst>
          </a:prstGeom>
          <a:solidFill>
            <a:srgbClr val="3B82F6">
              <a:alpha val="12000"/>
            </a:srgbClr>
          </a:solidFill>
          <a:ln w="9525">
            <a:solidFill>
              <a:srgbClr val="3B82F6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14908" y="3285687"/>
            <a:ext cx="132588" cy="13258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3631406" y="3602087"/>
            <a:ext cx="29113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b="1" kern="0" spc="-63" dirty="0">
                <a:solidFill>
                  <a:srgbClr val="3B82F6"/>
                </a:solidFill>
                <a:effectLst>
                  <a:glow rad="714375">
                    <a:srgbClr val="3B82F6">
                      <a:alpha val="135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∞</a:t>
            </a:r>
            <a:endParaRPr lang="en-US" sz="3150" dirty="0"/>
          </a:p>
        </p:txBody>
      </p:sp>
      <p:sp>
        <p:nvSpPr>
          <p:cNvPr id="39" name="Text 33"/>
          <p:cNvSpPr/>
          <p:nvPr/>
        </p:nvSpPr>
        <p:spPr>
          <a:xfrm>
            <a:off x="3631406" y="4045297"/>
            <a:ext cx="1166768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30" b="1" kern="0" spc="66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DEPTH</a:t>
            </a:r>
            <a:endParaRPr lang="en-US" sz="730" dirty="0"/>
          </a:p>
        </p:txBody>
      </p:sp>
      <p:sp>
        <p:nvSpPr>
          <p:cNvPr id="40" name="Text 34"/>
          <p:cNvSpPr/>
          <p:nvPr/>
        </p:nvSpPr>
        <p:spPr>
          <a:xfrm>
            <a:off x="429220" y="4553992"/>
            <a:ext cx="5856089" cy="331738"/>
          </a:xfrm>
          <a:prstGeom prst="roundRect">
            <a:avLst>
              <a:gd name="adj" fmla="val 21439"/>
            </a:avLst>
          </a:prstGeom>
          <a:solidFill>
            <a:srgbClr val="3B82F6">
              <a:alpha val="7000"/>
            </a:srgbClr>
          </a:solidFill>
          <a:ln w="9525">
            <a:solidFill>
              <a:srgbClr val="3B82F6">
                <a:alpha val="13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>
            <a:alphaModFix amt="8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8784" y="4653492"/>
            <a:ext cx="132588" cy="13258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54261" y="4649837"/>
            <a:ext cx="4882024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i="1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Mesh eliminates non-determinism: canonical ordering plus invariant validation yields byte-identical replay — SDR-1 receipt checksum 0xc5f88dcf.</a:t>
            </a:r>
            <a:endParaRPr lang="en-US" sz="760" dirty="0"/>
          </a:p>
        </p:txBody>
      </p:sp>
      <p:sp>
        <p:nvSpPr>
          <p:cNvPr id="43" name="Text 36"/>
          <p:cNvSpPr/>
          <p:nvPr/>
        </p:nvSpPr>
        <p:spPr>
          <a:xfrm>
            <a:off x="7200439" y="1357461"/>
            <a:ext cx="94330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560" b="1" kern="0" spc="78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FABRIC</a:t>
            </a:r>
            <a:endParaRPr lang="en-US" sz="560" dirty="0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75277" y="1592312"/>
            <a:ext cx="1393478" cy="22507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B82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B82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57500" y="857250"/>
            <a:ext cx="3429000" cy="3429000"/>
          </a:xfrm>
          <a:prstGeom prst="rect">
            <a:avLst/>
          </a:prstGeom>
          <a:gradFill rotWithShape="1">
            <a:gsLst>
              <a:gs pos="0">
                <a:srgbClr val="3B82F6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257770"/>
            <a:ext cx="1222474" cy="214952"/>
          </a:xfrm>
          <a:prstGeom prst="roundRect">
            <a:avLst>
              <a:gd name="adj" fmla="val 66764"/>
            </a:avLst>
          </a:prstGeom>
          <a:solidFill>
            <a:srgbClr val="3B82F6">
              <a:alpha val="12000"/>
            </a:srgbClr>
          </a:solidFill>
          <a:ln w="9525">
            <a:solidFill>
              <a:srgbClr val="3B82F6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LAYER</a:t>
            </a:r>
            <a:endParaRPr lang="en-US" sz="62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5000" y="289108"/>
            <a:ext cx="132588" cy="1325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50361" y="290661"/>
            <a:ext cx="114008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F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DETERMINISTIC MESH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457200" y="510332"/>
            <a:ext cx="8805672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4"/>
              </a:lnSpc>
              <a:buNone/>
            </a:pPr>
            <a:r>
              <a:rPr lang="en-US" sz="2140" kern="0" spc="-21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Mesh Node </a:t>
            </a:r>
            <a:r>
              <a:rPr lang="en-US" sz="2140" kern="0" spc="-21" dirty="0">
                <a:solidFill>
                  <a:srgbClr val="3B82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Topology</a:t>
            </a:r>
            <a:endParaRPr lang="en-US" sz="2140" dirty="0"/>
          </a:p>
        </p:txBody>
      </p:sp>
      <p:sp>
        <p:nvSpPr>
          <p:cNvPr id="9" name="Text 6"/>
          <p:cNvSpPr/>
          <p:nvPr/>
        </p:nvSpPr>
        <p:spPr>
          <a:xfrm>
            <a:off x="457200" y="866329"/>
            <a:ext cx="51435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3B82F6"/>
              </a:gs>
              <a:gs pos="100000">
                <a:srgbClr val="3B82F6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67843" y="1683693"/>
            <a:ext cx="4608165" cy="23040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07616" y="4655344"/>
            <a:ext cx="6328767" cy="287536"/>
          </a:xfrm>
          <a:prstGeom prst="roundRect">
            <a:avLst>
              <a:gd name="adj" fmla="val 24734"/>
            </a:avLst>
          </a:prstGeom>
          <a:solidFill>
            <a:srgbClr val="131929">
              <a:alpha val="85000"/>
            </a:srgbClr>
          </a:solidFill>
          <a:ln w="9525">
            <a:solidFill>
              <a:srgbClr val="3B82F6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617762" y="4748957"/>
            <a:ext cx="100310" cy="100310"/>
          </a:xfrm>
          <a:prstGeom prst="ellipse">
            <a:avLst/>
          </a:prstGeom>
          <a:solidFill>
            <a:srgbClr val="3B82F6"/>
          </a:solidFill>
          <a:ln/>
          <a:effectLst>
            <a:outerShdw blurRad="49530" dist="50800" dir="16200000" algn="bl" rotWithShape="0">
              <a:srgbClr val="3B82F6">
                <a:alpha val="3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1775222" y="4729609"/>
            <a:ext cx="59443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Node</a:t>
            </a:r>
            <a:endParaRPr lang="en-US" sz="730" dirty="0"/>
          </a:p>
        </p:txBody>
      </p:sp>
      <p:sp>
        <p:nvSpPr>
          <p:cNvPr id="14" name="Text 10"/>
          <p:cNvSpPr/>
          <p:nvPr/>
        </p:nvSpPr>
        <p:spPr>
          <a:xfrm>
            <a:off x="2544217" y="4734967"/>
            <a:ext cx="7590" cy="128141"/>
          </a:xfrm>
          <a:prstGeom prst="rect">
            <a:avLst/>
          </a:prstGeom>
          <a:solidFill>
            <a:srgbClr val="8CA5D2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2780407" y="4748957"/>
            <a:ext cx="100310" cy="100310"/>
          </a:xfrm>
          <a:prstGeom prst="ellipse">
            <a:avLst/>
          </a:prstGeom>
          <a:noFill/>
          <a:ln w="9525">
            <a:solidFill>
              <a:srgbClr val="F0F4FF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937867" y="4729609"/>
            <a:ext cx="48687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Node</a:t>
            </a:r>
            <a:endParaRPr lang="en-US" sz="730" dirty="0"/>
          </a:p>
        </p:txBody>
      </p:sp>
      <p:sp>
        <p:nvSpPr>
          <p:cNvPr id="17" name="Text 13"/>
          <p:cNvSpPr/>
          <p:nvPr/>
        </p:nvSpPr>
        <p:spPr>
          <a:xfrm>
            <a:off x="3609082" y="4734967"/>
            <a:ext cx="7590" cy="128141"/>
          </a:xfrm>
          <a:prstGeom prst="rect">
            <a:avLst/>
          </a:prstGeom>
          <a:solidFill>
            <a:srgbClr val="8CA5D2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3845272" y="4792117"/>
            <a:ext cx="228600" cy="13841"/>
          </a:xfrm>
          <a:prstGeom prst="rect">
            <a:avLst/>
          </a:prstGeom>
          <a:solidFill>
            <a:srgbClr val="8CA5D2">
              <a:alpha val="6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131022" y="4729609"/>
            <a:ext cx="44152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Link</a:t>
            </a:r>
            <a:endParaRPr lang="en-US" sz="730" dirty="0"/>
          </a:p>
        </p:txBody>
      </p:sp>
      <p:sp>
        <p:nvSpPr>
          <p:cNvPr id="20" name="Text 16"/>
          <p:cNvSpPr/>
          <p:nvPr/>
        </p:nvSpPr>
        <p:spPr>
          <a:xfrm>
            <a:off x="4761012" y="4734967"/>
            <a:ext cx="7590" cy="128141"/>
          </a:xfrm>
          <a:prstGeom prst="rect">
            <a:avLst/>
          </a:prstGeom>
          <a:solidFill>
            <a:srgbClr val="8CA5D2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997202" y="4792117"/>
            <a:ext cx="228600" cy="13841"/>
          </a:xfrm>
          <a:prstGeom prst="rect">
            <a:avLst/>
          </a:prstGeom>
          <a:gradFill rotWithShape="1">
            <a:gsLst>
              <a:gs pos="0">
                <a:srgbClr val="8CA5D2">
                  <a:alpha val="60000"/>
                </a:srgbClr>
              </a:gs>
              <a:gs pos="33333">
                <a:srgbClr val="8CA5D2">
                  <a:alpha val="60000"/>
                </a:srgbClr>
              </a:gs>
              <a:gs pos="66667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5282952" y="4729609"/>
            <a:ext cx="49244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Link</a:t>
            </a:r>
            <a:endParaRPr lang="en-US" sz="730" dirty="0"/>
          </a:p>
        </p:txBody>
      </p:sp>
      <p:sp>
        <p:nvSpPr>
          <p:cNvPr id="23" name="Text 19"/>
          <p:cNvSpPr/>
          <p:nvPr/>
        </p:nvSpPr>
        <p:spPr>
          <a:xfrm>
            <a:off x="5959227" y="4734967"/>
            <a:ext cx="7590" cy="128141"/>
          </a:xfrm>
          <a:prstGeom prst="rect">
            <a:avLst/>
          </a:prstGeom>
          <a:solidFill>
            <a:srgbClr val="8CA5D2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3875" y="4732743"/>
            <a:ext cx="132588" cy="1325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22070" y="4729609"/>
            <a:ext cx="132458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Lock per Node</a:t>
            </a:r>
            <a:endParaRPr lang="en-US" sz="7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B82F6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B82F6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428875" y="428625"/>
            <a:ext cx="4286250" cy="4286250"/>
          </a:xfrm>
          <a:prstGeom prst="ellipse">
            <a:avLst/>
          </a:prstGeom>
          <a:gradFill rotWithShape="1">
            <a:gsLst>
              <a:gs pos="0">
                <a:srgbClr val="3B82F6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" y="314920"/>
            <a:ext cx="8510778" cy="184100"/>
          </a:xfrm>
          <a:prstGeom prst="roundRect">
            <a:avLst>
              <a:gd name="adj" fmla="val 77952"/>
            </a:avLst>
          </a:prstGeom>
          <a:solidFill>
            <a:srgbClr val="3B82F6">
              <a:alpha val="12000"/>
            </a:srgbClr>
          </a:solidFill>
          <a:ln w="9525">
            <a:solidFill>
              <a:srgbClr val="3B82F6">
                <a:alpha val="30000"/>
              </a:srgbClr>
            </a:solidFill>
          </a:ln>
        </p:spPr>
        <p:txBody>
          <a:bodyPr wrap="none" lIns="186670" tIns="29210" rIns="100330" bIns="29210" rtlCol="0" anchor="ctr"/>
          <a:lstStyle/>
          <a:p>
            <a:pPr marL="0" indent="0" algn="l">
              <a:buNone/>
            </a:pPr>
            <a:r>
              <a:rPr lang="en-US" sz="560" b="1" kern="0" spc="84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FLEET</a:t>
            </a:r>
            <a:endParaRPr lang="en-US" sz="560" dirty="0"/>
          </a:p>
        </p:txBody>
      </p:sp>
      <p:sp>
        <p:nvSpPr>
          <p:cNvPr id="6" name="Text 4"/>
          <p:cNvSpPr/>
          <p:nvPr/>
        </p:nvSpPr>
        <p:spPr>
          <a:xfrm>
            <a:off x="509885" y="385316"/>
            <a:ext cx="43160" cy="43160"/>
          </a:xfrm>
          <a:prstGeom prst="ellipse">
            <a:avLst/>
          </a:pr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0050" y="571351"/>
            <a:ext cx="2844135" cy="271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40"/>
              </a:lnSpc>
              <a:buNone/>
            </a:pPr>
            <a:r>
              <a:rPr lang="en-US" sz="2140" b="1" kern="0" spc="43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Four Horsemen</a:t>
            </a:r>
            <a:endParaRPr lang="en-US" sz="2140" dirty="0"/>
          </a:p>
        </p:txBody>
      </p:sp>
      <p:sp>
        <p:nvSpPr>
          <p:cNvPr id="8" name="Text 6"/>
          <p:cNvSpPr/>
          <p:nvPr/>
        </p:nvSpPr>
        <p:spPr>
          <a:xfrm>
            <a:off x="4114800" y="704701"/>
            <a:ext cx="4892040" cy="168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i="1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benchmark shells — two deterministic, two bifurcated — each on its own diverse chaos stream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400050" y="915888"/>
            <a:ext cx="45720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3B82F6"/>
              </a:gs>
              <a:gs pos="100000">
                <a:srgbClr val="3B82F6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0050" y="1051768"/>
            <a:ext cx="4114800" cy="1715095"/>
          </a:xfrm>
          <a:prstGeom prst="roundRect">
            <a:avLst>
              <a:gd name="adj" fmla="val 6664"/>
            </a:avLst>
          </a:prstGeom>
          <a:solidFill>
            <a:srgbClr val="131929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9575" y="1061293"/>
            <a:ext cx="857250" cy="857250"/>
          </a:xfrm>
          <a:prstGeom prst="rect">
            <a:avLst/>
          </a:prstGeom>
          <a:solidFill>
            <a:srgbClr val="3B82F6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9575" y="1061293"/>
            <a:ext cx="4095750" cy="2917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100000">
                <a:srgbClr val="60A5F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1025" y="1233934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972" y="1335881"/>
            <a:ext cx="139005" cy="13900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24235" y="1269504"/>
            <a:ext cx="960772" cy="54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60" b="1" kern="0" spc="84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DETERMINISTIC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560" b="1" kern="0" spc="84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HORSEMAN I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1025" y="1647825"/>
            <a:ext cx="3752850" cy="759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81025" y="1726406"/>
            <a:ext cx="3827907" cy="48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9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Jasper-derived deterministic shell. Runs its own independent, diverse chaos stream — anomaly types and domains unique to this arm. Auto-heal ratio tracked against the 88.5% cold-start baseline.</a:t>
            </a:r>
            <a:endParaRPr lang="en-US" sz="790" dirty="0"/>
          </a:p>
        </p:txBody>
      </p:sp>
      <p:sp>
        <p:nvSpPr>
          <p:cNvPr id="18" name="Text 15"/>
          <p:cNvSpPr/>
          <p:nvPr/>
        </p:nvSpPr>
        <p:spPr>
          <a:xfrm>
            <a:off x="581025" y="2430959"/>
            <a:ext cx="1139901" cy="168920"/>
          </a:xfrm>
          <a:prstGeom prst="roundRect">
            <a:avLst>
              <a:gd name="adj" fmla="val 25562"/>
            </a:avLst>
          </a:prstGeom>
          <a:solidFill>
            <a:srgbClr val="3B82F6">
              <a:alpha val="12000"/>
            </a:srgbClr>
          </a:solidFill>
          <a:ln w="9525">
            <a:solidFill>
              <a:srgbClr val="3B82F6">
                <a:alpha val="25000"/>
              </a:srgbClr>
            </a:solidFill>
          </a:ln>
        </p:spPr>
        <p:txBody>
          <a:bodyPr wrap="none" lIns="159960" tIns="21590" rIns="71120" bIns="21590" rtlCol="0" anchor="ctr"/>
          <a:lstStyle/>
          <a:p>
            <a:pPr marL="0" indent="0" algn="l">
              <a:buNone/>
            </a:pPr>
            <a:r>
              <a:rPr lang="en-US" sz="560" b="1" kern="0" spc="56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JASPER-DERIVED</a:t>
            </a:r>
            <a:endParaRPr lang="en-US" sz="56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887" y="2449050"/>
            <a:ext cx="132588" cy="1325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629150" y="1051768"/>
            <a:ext cx="4114800" cy="1715095"/>
          </a:xfrm>
          <a:prstGeom prst="roundRect">
            <a:avLst>
              <a:gd name="adj" fmla="val 6664"/>
            </a:avLst>
          </a:prstGeom>
          <a:solidFill>
            <a:srgbClr val="131929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638675" y="1061293"/>
            <a:ext cx="857250" cy="857250"/>
          </a:xfrm>
          <a:prstGeom prst="rect">
            <a:avLst/>
          </a:prstGeom>
          <a:solidFill>
            <a:srgbClr val="EF4444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638675" y="1061293"/>
            <a:ext cx="4095750" cy="29170"/>
          </a:xfrm>
          <a:prstGeom prst="rect">
            <a:avLst/>
          </a:prstGeom>
          <a:gradFill rotWithShape="1">
            <a:gsLst>
              <a:gs pos="0">
                <a:srgbClr val="EF4444"/>
              </a:gs>
              <a:gs pos="100000">
                <a:srgbClr val="F87171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4810125" y="1233934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12072" y="1335881"/>
            <a:ext cx="139005" cy="13900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53335" y="1269504"/>
            <a:ext cx="817772" cy="54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60" b="1" kern="0" spc="84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— BIFURCATED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560" b="1" kern="0" spc="84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HORSEMAN II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810125" y="1647825"/>
            <a:ext cx="3752850" cy="759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4810125" y="1726406"/>
            <a:ext cx="3827907" cy="48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9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Gillian-derived bifurcated shell. The probabilistic mesh proposes; the deterministic cage validates every proposal against invariant boundaries before execution.</a:t>
            </a:r>
            <a:endParaRPr lang="en-US" sz="790" dirty="0"/>
          </a:p>
        </p:txBody>
      </p:sp>
      <p:sp>
        <p:nvSpPr>
          <p:cNvPr id="28" name="Text 23"/>
          <p:cNvSpPr/>
          <p:nvPr/>
        </p:nvSpPr>
        <p:spPr>
          <a:xfrm>
            <a:off x="4810125" y="2430959"/>
            <a:ext cx="1076143" cy="168920"/>
          </a:xfrm>
          <a:prstGeom prst="roundRect">
            <a:avLst>
              <a:gd name="adj" fmla="val 25562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>
                <a:alpha val="25000"/>
              </a:srgbClr>
            </a:solidFill>
          </a:ln>
        </p:spPr>
        <p:txBody>
          <a:bodyPr wrap="none" lIns="159960" tIns="21590" rIns="71120" bIns="21590" rtlCol="0" anchor="ctr"/>
          <a:lstStyle/>
          <a:p>
            <a:pPr marL="0" indent="0" algn="l">
              <a:buNone/>
            </a:pPr>
            <a:r>
              <a:rPr lang="en-US" sz="560" b="1" kern="0" spc="56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GILLIAN-DERIVED</a:t>
            </a:r>
            <a:endParaRPr lang="en-US" sz="56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50987" y="2449050"/>
            <a:ext cx="132588" cy="1325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00050" y="2881164"/>
            <a:ext cx="4114800" cy="1715095"/>
          </a:xfrm>
          <a:prstGeom prst="roundRect">
            <a:avLst>
              <a:gd name="adj" fmla="val 6664"/>
            </a:avLst>
          </a:prstGeom>
          <a:solidFill>
            <a:srgbClr val="131929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409575" y="2890689"/>
            <a:ext cx="857250" cy="857250"/>
          </a:xfrm>
          <a:prstGeom prst="rect">
            <a:avLst/>
          </a:prstGeom>
          <a:solidFill>
            <a:srgbClr val="F59E0B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409575" y="2890689"/>
            <a:ext cx="4095750" cy="29170"/>
          </a:xfrm>
          <a:prstGeom prst="rect">
            <a:avLst/>
          </a:prstGeom>
          <a:gradFill rotWithShape="1">
            <a:gsLst>
              <a:gs pos="0">
                <a:srgbClr val="F59E0B"/>
              </a:gs>
              <a:gs pos="100000">
                <a:srgbClr val="FCD34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581025" y="3063329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2972" y="3165277"/>
            <a:ext cx="139005" cy="139005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024235" y="3098899"/>
            <a:ext cx="960120" cy="54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60" b="1" kern="0" spc="84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— DETERMINISTIC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560" b="1" kern="0" spc="84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HORSEMAN III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581025" y="3477220"/>
            <a:ext cx="3752850" cy="759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0"/>
          <p:cNvSpPr/>
          <p:nvPr/>
        </p:nvSpPr>
        <p:spPr>
          <a:xfrm>
            <a:off x="581025" y="3555802"/>
            <a:ext cx="3827907" cy="48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9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Jasper-derived deterministic arm. Different anomaly families from Horseman I — no matched inputs anywhere in the fleet. Both deterministic arms feed the hub pattern library.</a:t>
            </a:r>
            <a:endParaRPr lang="en-US" sz="790" dirty="0"/>
          </a:p>
        </p:txBody>
      </p:sp>
      <p:sp>
        <p:nvSpPr>
          <p:cNvPr id="38" name="Text 31"/>
          <p:cNvSpPr/>
          <p:nvPr/>
        </p:nvSpPr>
        <p:spPr>
          <a:xfrm>
            <a:off x="581025" y="4260354"/>
            <a:ext cx="1231136" cy="168920"/>
          </a:xfrm>
          <a:prstGeom prst="roundRect">
            <a:avLst>
              <a:gd name="adj" fmla="val 25562"/>
            </a:avLst>
          </a:prstGeom>
          <a:solidFill>
            <a:srgbClr val="F59E0B">
              <a:alpha val="12000"/>
            </a:srgbClr>
          </a:solidFill>
          <a:ln w="9525">
            <a:solidFill>
              <a:srgbClr val="F59E0B">
                <a:alpha val="25000"/>
              </a:srgbClr>
            </a:solidFill>
          </a:ln>
        </p:spPr>
        <p:txBody>
          <a:bodyPr wrap="none" lIns="159960" tIns="21590" rIns="71120" bIns="21590" rtlCol="0" anchor="ctr"/>
          <a:lstStyle/>
          <a:p>
            <a:pPr marL="0" indent="0" algn="l">
              <a:buNone/>
            </a:pPr>
            <a:r>
              <a:rPr lang="en-US" sz="560" b="1" kern="0" spc="56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JASPER-DERIVED</a:t>
            </a:r>
            <a:endParaRPr lang="en-US" sz="56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887" y="4278445"/>
            <a:ext cx="132588" cy="13258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4629150" y="2881164"/>
            <a:ext cx="4114800" cy="1715095"/>
          </a:xfrm>
          <a:prstGeom prst="roundRect">
            <a:avLst>
              <a:gd name="adj" fmla="val 6664"/>
            </a:avLst>
          </a:prstGeom>
          <a:solidFill>
            <a:srgbClr val="131929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3"/>
          <p:cNvSpPr/>
          <p:nvPr/>
        </p:nvSpPr>
        <p:spPr>
          <a:xfrm>
            <a:off x="4638675" y="2890689"/>
            <a:ext cx="857250" cy="857250"/>
          </a:xfrm>
          <a:prstGeom prst="rect">
            <a:avLst/>
          </a:prstGeom>
          <a:solidFill>
            <a:srgbClr val="64748B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4"/>
          <p:cNvSpPr/>
          <p:nvPr/>
        </p:nvSpPr>
        <p:spPr>
          <a:xfrm>
            <a:off x="4638675" y="2890689"/>
            <a:ext cx="4095750" cy="29170"/>
          </a:xfrm>
          <a:prstGeom prst="rect">
            <a:avLst/>
          </a:prstGeom>
          <a:gradFill rotWithShape="1">
            <a:gsLst>
              <a:gs pos="0">
                <a:srgbClr val="64748B"/>
              </a:gs>
              <a:gs pos="100000">
                <a:srgbClr val="94A3B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5"/>
          <p:cNvSpPr/>
          <p:nvPr/>
        </p:nvSpPr>
        <p:spPr>
          <a:xfrm>
            <a:off x="4810125" y="3063329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64748B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12072" y="3165277"/>
            <a:ext cx="139005" cy="139005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5253335" y="3098899"/>
            <a:ext cx="852687" cy="54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60" b="1" kern="0" spc="84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— BIFURCATED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560" b="1" kern="0" spc="84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HORSEMAN IV</a:t>
            </a:r>
            <a:endParaRPr lang="en-US" sz="1200" dirty="0"/>
          </a:p>
        </p:txBody>
      </p:sp>
      <p:sp>
        <p:nvSpPr>
          <p:cNvPr id="46" name="Text 37"/>
          <p:cNvSpPr/>
          <p:nvPr/>
        </p:nvSpPr>
        <p:spPr>
          <a:xfrm>
            <a:off x="4810125" y="3477220"/>
            <a:ext cx="3752850" cy="759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8"/>
          <p:cNvSpPr/>
          <p:nvPr/>
        </p:nvSpPr>
        <p:spPr>
          <a:xfrm>
            <a:off x="4810125" y="3555802"/>
            <a:ext cx="3827907" cy="48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9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Gillian-derived bifurcated arm. Carries the monthly quantum-attack stream: PQC forgery sims, keyring desync probes, vulnerable-algorithm detection — Dilithium3 / Kyber-1024 / SPHINCS+-256f only.</a:t>
            </a:r>
            <a:endParaRPr lang="en-US" sz="790" dirty="0"/>
          </a:p>
        </p:txBody>
      </p:sp>
      <p:sp>
        <p:nvSpPr>
          <p:cNvPr id="48" name="Text 39"/>
          <p:cNvSpPr/>
          <p:nvPr/>
        </p:nvSpPr>
        <p:spPr>
          <a:xfrm>
            <a:off x="4810125" y="4260354"/>
            <a:ext cx="1147188" cy="168920"/>
          </a:xfrm>
          <a:prstGeom prst="roundRect">
            <a:avLst>
              <a:gd name="adj" fmla="val 25562"/>
            </a:avLst>
          </a:prstGeom>
          <a:solidFill>
            <a:srgbClr val="64748B">
              <a:alpha val="12000"/>
            </a:srgbClr>
          </a:solidFill>
          <a:ln w="9525">
            <a:solidFill>
              <a:srgbClr val="64748B">
                <a:alpha val="30000"/>
              </a:srgbClr>
            </a:solidFill>
          </a:ln>
        </p:spPr>
        <p:txBody>
          <a:bodyPr wrap="none" lIns="159960" tIns="21590" rIns="71120" bIns="21590" rtlCol="0" anchor="ctr"/>
          <a:lstStyle/>
          <a:p>
            <a:pPr marL="0" indent="0" algn="l">
              <a:buNone/>
            </a:pPr>
            <a:r>
              <a:rPr lang="en-US" sz="560" b="1" kern="0" spc="56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GILLIAN-DERIVED</a:t>
            </a:r>
            <a:endParaRPr lang="en-US" sz="560" dirty="0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50987" y="4278445"/>
            <a:ext cx="132588" cy="132588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400050" y="4777085"/>
            <a:ext cx="43160" cy="43160"/>
          </a:xfrm>
          <a:prstGeom prst="ellipse">
            <a:avLst/>
          </a:prstGeom>
          <a:solidFill>
            <a:srgbClr val="3B82F6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1"/>
          <p:cNvSpPr/>
          <p:nvPr/>
        </p:nvSpPr>
        <p:spPr>
          <a:xfrm>
            <a:off x="500360" y="4739729"/>
            <a:ext cx="364387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BIFURCATED LEARNING — FOUR INDEPENDENT STREAMS, ONE HUB PATTERN LIBRARY</a:t>
            </a:r>
            <a:endParaRPr lang="en-US" sz="620" dirty="0"/>
          </a:p>
        </p:txBody>
      </p:sp>
      <p:sp>
        <p:nvSpPr>
          <p:cNvPr id="52" name="Text 42"/>
          <p:cNvSpPr/>
          <p:nvPr/>
        </p:nvSpPr>
        <p:spPr>
          <a:xfrm>
            <a:off x="4281220" y="4787950"/>
            <a:ext cx="70991" cy="21580"/>
          </a:xfrm>
          <a:prstGeom prst="roundRect">
            <a:avLst>
              <a:gd name="adj" fmla="val 64736"/>
            </a:avLst>
          </a:pr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3"/>
          <p:cNvSpPr/>
          <p:nvPr/>
        </p:nvSpPr>
        <p:spPr>
          <a:xfrm>
            <a:off x="4464100" y="4745385"/>
            <a:ext cx="74980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HORSEMAN I</a:t>
            </a:r>
            <a:endParaRPr lang="en-US" sz="560" dirty="0"/>
          </a:p>
        </p:txBody>
      </p:sp>
      <p:sp>
        <p:nvSpPr>
          <p:cNvPr id="54" name="Text 44"/>
          <p:cNvSpPr/>
          <p:nvPr/>
        </p:nvSpPr>
        <p:spPr>
          <a:xfrm>
            <a:off x="5415076" y="4787950"/>
            <a:ext cx="70991" cy="21580"/>
          </a:xfrm>
          <a:prstGeom prst="roundRect">
            <a:avLst>
              <a:gd name="adj" fmla="val 64736"/>
            </a:avLst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5"/>
          <p:cNvSpPr/>
          <p:nvPr/>
        </p:nvSpPr>
        <p:spPr>
          <a:xfrm>
            <a:off x="5597956" y="4745385"/>
            <a:ext cx="82478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HORSEMAN II</a:t>
            </a:r>
            <a:endParaRPr lang="en-US" sz="560" dirty="0"/>
          </a:p>
        </p:txBody>
      </p:sp>
      <p:sp>
        <p:nvSpPr>
          <p:cNvPr id="56" name="Text 46"/>
          <p:cNvSpPr/>
          <p:nvPr/>
        </p:nvSpPr>
        <p:spPr>
          <a:xfrm>
            <a:off x="6623913" y="4787950"/>
            <a:ext cx="70991" cy="21580"/>
          </a:xfrm>
          <a:prstGeom prst="roundRect">
            <a:avLst>
              <a:gd name="adj" fmla="val 64736"/>
            </a:avLst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7"/>
          <p:cNvSpPr/>
          <p:nvPr/>
        </p:nvSpPr>
        <p:spPr>
          <a:xfrm>
            <a:off x="6806793" y="4745385"/>
            <a:ext cx="89976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HORSEMAN III</a:t>
            </a:r>
            <a:endParaRPr lang="en-US" sz="560" dirty="0"/>
          </a:p>
        </p:txBody>
      </p:sp>
      <p:sp>
        <p:nvSpPr>
          <p:cNvPr id="58" name="Text 48"/>
          <p:cNvSpPr/>
          <p:nvPr/>
        </p:nvSpPr>
        <p:spPr>
          <a:xfrm>
            <a:off x="7907731" y="4787950"/>
            <a:ext cx="70991" cy="21580"/>
          </a:xfrm>
          <a:prstGeom prst="roundRect">
            <a:avLst>
              <a:gd name="adj" fmla="val 64736"/>
            </a:avLst>
          </a:prstGeom>
          <a:solidFill>
            <a:srgbClr val="64748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49"/>
          <p:cNvSpPr/>
          <p:nvPr/>
        </p:nvSpPr>
        <p:spPr>
          <a:xfrm>
            <a:off x="8090611" y="4745385"/>
            <a:ext cx="82478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HORSEMAN IV</a:t>
            </a:r>
            <a:endParaRPr lang="en-US" sz="5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B82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B82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143030" y="0"/>
            <a:ext cx="3000970" cy="2715220"/>
          </a:xfrm>
          <a:prstGeom prst="ellipse">
            <a:avLst/>
          </a:prstGeom>
          <a:gradFill rotWithShape="1">
            <a:gsLst>
              <a:gs pos="0">
                <a:srgbClr val="3B82F6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9220" y="3429000"/>
            <a:ext cx="2286000" cy="1714500"/>
          </a:xfrm>
          <a:prstGeom prst="ellipse">
            <a:avLst/>
          </a:prstGeom>
          <a:gradFill rotWithShape="1">
            <a:gsLst>
              <a:gs pos="0">
                <a:srgbClr val="14B8A6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745" y="1123206"/>
            <a:ext cx="21580" cy="527150"/>
          </a:xfrm>
          <a:custGeom>
            <a:avLst/>
            <a:gdLst/>
            <a:ahLst/>
            <a:cxnLst/>
            <a:rect l="l" t="t" r="r" b="b"/>
            <a:pathLst>
              <a:path w="21580" h="527150">
                <a:moveTo>
                  <a:pt x="0" y="86360"/>
                </a:moveTo>
                <a:lnTo>
                  <a:pt x="2698" y="64944"/>
                </a:lnTo>
                <a:lnTo>
                  <a:pt x="5395" y="56315"/>
                </a:lnTo>
                <a:lnTo>
                  <a:pt x="8093" y="49860"/>
                </a:lnTo>
                <a:lnTo>
                  <a:pt x="10790" y="44560"/>
                </a:lnTo>
                <a:lnTo>
                  <a:pt x="13488" y="40017"/>
                </a:lnTo>
                <a:lnTo>
                  <a:pt x="16185" y="36026"/>
                </a:lnTo>
                <a:lnTo>
                  <a:pt x="18883" y="32463"/>
                </a:lnTo>
                <a:lnTo>
                  <a:pt x="21580" y="29250"/>
                </a:lnTo>
                <a:lnTo>
                  <a:pt x="21580" y="497900"/>
                </a:lnTo>
                <a:lnTo>
                  <a:pt x="18883" y="494686"/>
                </a:lnTo>
                <a:lnTo>
                  <a:pt x="16185" y="491124"/>
                </a:lnTo>
                <a:lnTo>
                  <a:pt x="13488" y="487132"/>
                </a:lnTo>
                <a:lnTo>
                  <a:pt x="10790" y="482590"/>
                </a:lnTo>
                <a:lnTo>
                  <a:pt x="8093" y="477290"/>
                </a:lnTo>
                <a:lnTo>
                  <a:pt x="5395" y="470835"/>
                </a:lnTo>
                <a:lnTo>
                  <a:pt x="2698" y="462205"/>
                </a:lnTo>
                <a:lnTo>
                  <a:pt x="0" y="44079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8745" y="1740396"/>
            <a:ext cx="21580" cy="527150"/>
          </a:xfrm>
          <a:custGeom>
            <a:avLst/>
            <a:gdLst/>
            <a:ahLst/>
            <a:cxnLst/>
            <a:rect l="l" t="t" r="r" b="b"/>
            <a:pathLst>
              <a:path w="21580" h="527150">
                <a:moveTo>
                  <a:pt x="0" y="86360"/>
                </a:moveTo>
                <a:lnTo>
                  <a:pt x="2698" y="64944"/>
                </a:lnTo>
                <a:lnTo>
                  <a:pt x="5395" y="56315"/>
                </a:lnTo>
                <a:lnTo>
                  <a:pt x="8093" y="49860"/>
                </a:lnTo>
                <a:lnTo>
                  <a:pt x="10790" y="44560"/>
                </a:lnTo>
                <a:lnTo>
                  <a:pt x="13488" y="40017"/>
                </a:lnTo>
                <a:lnTo>
                  <a:pt x="16185" y="36026"/>
                </a:lnTo>
                <a:lnTo>
                  <a:pt x="18883" y="32463"/>
                </a:lnTo>
                <a:lnTo>
                  <a:pt x="21580" y="29250"/>
                </a:lnTo>
                <a:lnTo>
                  <a:pt x="21580" y="497900"/>
                </a:lnTo>
                <a:lnTo>
                  <a:pt x="18883" y="494686"/>
                </a:lnTo>
                <a:lnTo>
                  <a:pt x="16185" y="491124"/>
                </a:lnTo>
                <a:lnTo>
                  <a:pt x="13488" y="487132"/>
                </a:lnTo>
                <a:lnTo>
                  <a:pt x="10790" y="482590"/>
                </a:lnTo>
                <a:lnTo>
                  <a:pt x="8093" y="477290"/>
                </a:lnTo>
                <a:lnTo>
                  <a:pt x="5395" y="470835"/>
                </a:lnTo>
                <a:lnTo>
                  <a:pt x="2698" y="462205"/>
                </a:lnTo>
                <a:lnTo>
                  <a:pt x="0" y="440790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8745" y="2357586"/>
            <a:ext cx="21580" cy="527150"/>
          </a:xfrm>
          <a:custGeom>
            <a:avLst/>
            <a:gdLst/>
            <a:ahLst/>
            <a:cxnLst/>
            <a:rect l="l" t="t" r="r" b="b"/>
            <a:pathLst>
              <a:path w="21580" h="527150">
                <a:moveTo>
                  <a:pt x="0" y="86360"/>
                </a:moveTo>
                <a:lnTo>
                  <a:pt x="2698" y="64944"/>
                </a:lnTo>
                <a:lnTo>
                  <a:pt x="5395" y="56315"/>
                </a:lnTo>
                <a:lnTo>
                  <a:pt x="8093" y="49860"/>
                </a:lnTo>
                <a:lnTo>
                  <a:pt x="10790" y="44560"/>
                </a:lnTo>
                <a:lnTo>
                  <a:pt x="13488" y="40017"/>
                </a:lnTo>
                <a:lnTo>
                  <a:pt x="16185" y="36026"/>
                </a:lnTo>
                <a:lnTo>
                  <a:pt x="18883" y="32463"/>
                </a:lnTo>
                <a:lnTo>
                  <a:pt x="21580" y="29250"/>
                </a:lnTo>
                <a:lnTo>
                  <a:pt x="21580" y="497900"/>
                </a:lnTo>
                <a:lnTo>
                  <a:pt x="18883" y="494686"/>
                </a:lnTo>
                <a:lnTo>
                  <a:pt x="16185" y="491124"/>
                </a:lnTo>
                <a:lnTo>
                  <a:pt x="13488" y="487132"/>
                </a:lnTo>
                <a:lnTo>
                  <a:pt x="10790" y="482590"/>
                </a:lnTo>
                <a:lnTo>
                  <a:pt x="8093" y="477290"/>
                </a:lnTo>
                <a:lnTo>
                  <a:pt x="5395" y="470835"/>
                </a:lnTo>
                <a:lnTo>
                  <a:pt x="2698" y="462205"/>
                </a:lnTo>
                <a:lnTo>
                  <a:pt x="0" y="440790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8745" y="3917305"/>
            <a:ext cx="2603897" cy="13841"/>
          </a:xfrm>
          <a:custGeom>
            <a:avLst/>
            <a:gdLst/>
            <a:ahLst/>
            <a:cxnLst/>
            <a:rect l="l" t="t" r="r" b="b"/>
            <a:pathLst>
              <a:path w="2603897" h="13841">
                <a:moveTo>
                  <a:pt x="39466" y="0"/>
                </a:moveTo>
                <a:lnTo>
                  <a:pt x="2564431" y="0"/>
                </a:lnTo>
                <a:lnTo>
                  <a:pt x="2561640" y="1730"/>
                </a:lnTo>
                <a:lnTo>
                  <a:pt x="2558588" y="3460"/>
                </a:lnTo>
                <a:lnTo>
                  <a:pt x="2555210" y="5190"/>
                </a:lnTo>
                <a:lnTo>
                  <a:pt x="2551410" y="6920"/>
                </a:lnTo>
                <a:lnTo>
                  <a:pt x="2547025" y="8651"/>
                </a:lnTo>
                <a:lnTo>
                  <a:pt x="2541738" y="10381"/>
                </a:lnTo>
                <a:lnTo>
                  <a:pt x="2534737" y="12111"/>
                </a:lnTo>
                <a:lnTo>
                  <a:pt x="2517537" y="13841"/>
                </a:lnTo>
                <a:lnTo>
                  <a:pt x="86360" y="13841"/>
                </a:lnTo>
                <a:lnTo>
                  <a:pt x="69160" y="12111"/>
                </a:lnTo>
                <a:lnTo>
                  <a:pt x="62159" y="10381"/>
                </a:lnTo>
                <a:lnTo>
                  <a:pt x="56872" y="8651"/>
                </a:lnTo>
                <a:lnTo>
                  <a:pt x="52487" y="6920"/>
                </a:lnTo>
                <a:lnTo>
                  <a:pt x="48686" y="5190"/>
                </a:lnTo>
                <a:lnTo>
                  <a:pt x="45309" y="3460"/>
                </a:lnTo>
                <a:lnTo>
                  <a:pt x="42257" y="1730"/>
                </a:lnTo>
                <a:close/>
              </a:path>
            </a:pathLst>
          </a:custGeom>
          <a:gradFill rotWithShape="1">
            <a:gsLst>
              <a:gs pos="0">
                <a:srgbClr val="3B82F6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69903" y="3917305"/>
            <a:ext cx="2604049" cy="13841"/>
          </a:xfrm>
          <a:custGeom>
            <a:avLst/>
            <a:gdLst/>
            <a:ahLst/>
            <a:cxnLst/>
            <a:rect l="l" t="t" r="r" b="b"/>
            <a:pathLst>
              <a:path w="2604049" h="13841">
                <a:moveTo>
                  <a:pt x="39466" y="0"/>
                </a:moveTo>
                <a:lnTo>
                  <a:pt x="2564583" y="0"/>
                </a:lnTo>
                <a:lnTo>
                  <a:pt x="2561793" y="1730"/>
                </a:lnTo>
                <a:lnTo>
                  <a:pt x="2558740" y="3460"/>
                </a:lnTo>
                <a:lnTo>
                  <a:pt x="2555363" y="5190"/>
                </a:lnTo>
                <a:lnTo>
                  <a:pt x="2551563" y="6920"/>
                </a:lnTo>
                <a:lnTo>
                  <a:pt x="2547177" y="8651"/>
                </a:lnTo>
                <a:lnTo>
                  <a:pt x="2541890" y="10381"/>
                </a:lnTo>
                <a:lnTo>
                  <a:pt x="2534889" y="12111"/>
                </a:lnTo>
                <a:lnTo>
                  <a:pt x="2517689" y="13841"/>
                </a:lnTo>
                <a:lnTo>
                  <a:pt x="86360" y="13841"/>
                </a:lnTo>
                <a:lnTo>
                  <a:pt x="69160" y="12111"/>
                </a:lnTo>
                <a:lnTo>
                  <a:pt x="62159" y="10381"/>
                </a:lnTo>
                <a:lnTo>
                  <a:pt x="56872" y="8651"/>
                </a:lnTo>
                <a:lnTo>
                  <a:pt x="52487" y="6920"/>
                </a:lnTo>
                <a:lnTo>
                  <a:pt x="48686" y="5190"/>
                </a:lnTo>
                <a:lnTo>
                  <a:pt x="45309" y="3460"/>
                </a:lnTo>
                <a:lnTo>
                  <a:pt x="42257" y="1730"/>
                </a:lnTo>
                <a:close/>
              </a:path>
            </a:pathLst>
          </a:custGeom>
          <a:gradFill rotWithShape="1">
            <a:gsLst>
              <a:gs pos="0">
                <a:srgbClr val="14B8A6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01209" y="3917305"/>
            <a:ext cx="2604049" cy="13841"/>
          </a:xfrm>
          <a:custGeom>
            <a:avLst/>
            <a:gdLst/>
            <a:ahLst/>
            <a:cxnLst/>
            <a:rect l="l" t="t" r="r" b="b"/>
            <a:pathLst>
              <a:path w="2604049" h="13841">
                <a:moveTo>
                  <a:pt x="39466" y="0"/>
                </a:moveTo>
                <a:lnTo>
                  <a:pt x="2564583" y="0"/>
                </a:lnTo>
                <a:lnTo>
                  <a:pt x="2561793" y="1730"/>
                </a:lnTo>
                <a:lnTo>
                  <a:pt x="2558740" y="3460"/>
                </a:lnTo>
                <a:lnTo>
                  <a:pt x="2555363" y="5190"/>
                </a:lnTo>
                <a:lnTo>
                  <a:pt x="2551563" y="6920"/>
                </a:lnTo>
                <a:lnTo>
                  <a:pt x="2547177" y="8651"/>
                </a:lnTo>
                <a:lnTo>
                  <a:pt x="2541890" y="10381"/>
                </a:lnTo>
                <a:lnTo>
                  <a:pt x="2534889" y="12111"/>
                </a:lnTo>
                <a:lnTo>
                  <a:pt x="2517689" y="13841"/>
                </a:lnTo>
                <a:lnTo>
                  <a:pt x="86360" y="13841"/>
                </a:lnTo>
                <a:lnTo>
                  <a:pt x="69160" y="12111"/>
                </a:lnTo>
                <a:lnTo>
                  <a:pt x="62159" y="10381"/>
                </a:lnTo>
                <a:lnTo>
                  <a:pt x="56872" y="8651"/>
                </a:lnTo>
                <a:lnTo>
                  <a:pt x="52487" y="6920"/>
                </a:lnTo>
                <a:lnTo>
                  <a:pt x="48686" y="5190"/>
                </a:lnTo>
                <a:lnTo>
                  <a:pt x="45309" y="3460"/>
                </a:lnTo>
                <a:lnTo>
                  <a:pt x="42257" y="1730"/>
                </a:lnTo>
                <a:close/>
              </a:path>
            </a:pathLst>
          </a:custGeom>
          <a:gradFill rotWithShape="1">
            <a:gsLst>
              <a:gs pos="0">
                <a:srgbClr val="10B981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9220" y="257770"/>
            <a:ext cx="1081153" cy="207913"/>
          </a:xfrm>
          <a:prstGeom prst="roundRect">
            <a:avLst>
              <a:gd name="adj" fmla="val 69024"/>
            </a:avLst>
          </a:prstGeom>
          <a:solidFill>
            <a:srgbClr val="3B82F6">
              <a:alpha val="15000"/>
            </a:srgbClr>
          </a:solidFill>
          <a:ln w="9525">
            <a:solidFill>
              <a:srgbClr val="3B82F6">
                <a:alpha val="35000"/>
              </a:srgbClr>
            </a:solidFill>
          </a:ln>
        </p:spPr>
        <p:txBody>
          <a:bodyPr wrap="none" lIns="100330" tIns="35560" rIns="100330" bIns="3556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74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SDR-1 RESULTS</a:t>
            </a:r>
            <a:endParaRPr lang="en-US" sz="620" dirty="0"/>
          </a:p>
        </p:txBody>
      </p:sp>
      <p:sp>
        <p:nvSpPr>
          <p:cNvPr id="13" name="Text 11"/>
          <p:cNvSpPr/>
          <p:nvPr/>
        </p:nvSpPr>
        <p:spPr>
          <a:xfrm>
            <a:off x="1589484" y="357932"/>
            <a:ext cx="7125295" cy="7590"/>
          </a:xfrm>
          <a:prstGeom prst="rect">
            <a:avLst/>
          </a:prstGeom>
          <a:gradFill rotWithShape="1">
            <a:gsLst>
              <a:gs pos="0">
                <a:srgbClr val="3B82F6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29220" y="522833"/>
            <a:ext cx="4100746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kern="0" spc="18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Substrate Determinism Receipt 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9220" y="821085"/>
            <a:ext cx="4215720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4"/>
              </a:lnSpc>
              <a:spcBef>
                <a:spcPts val="280"/>
              </a:spcBef>
              <a:buNone/>
            </a:pPr>
            <a:r>
              <a:rPr lang="en-US" sz="76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certified substrate: parity, replay, and temporal independence across independent instances — every claim carries a timestamped receipt.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7952631" y="688925"/>
            <a:ext cx="777392" cy="534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60" kern="0" spc="56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COMPLETED
</a:t>
            </a:r>
            <a:r>
              <a:rPr lang="en-US" sz="730" b="1" kern="0" spc="29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220" y="1113681"/>
            <a:ext cx="8285559" cy="546199"/>
          </a:xfrm>
          <a:prstGeom prst="roundRect">
            <a:avLst>
              <a:gd name="adj" fmla="val 15811"/>
            </a:avLst>
          </a:prstGeom>
          <a:solidFill>
            <a:srgbClr val="131929"/>
          </a:solidFill>
          <a:ln w="9525">
            <a:solidFill>
              <a:srgbClr val="3B82F6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0195" y="1251347"/>
            <a:ext cx="204376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5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Reproducibility Rate</a:t>
            </a:r>
            <a:endParaRPr lang="en-US" sz="730" dirty="0"/>
          </a:p>
        </p:txBody>
      </p:sp>
      <p:sp>
        <p:nvSpPr>
          <p:cNvPr id="19" name="Text 17"/>
          <p:cNvSpPr/>
          <p:nvPr/>
        </p:nvSpPr>
        <p:spPr>
          <a:xfrm>
            <a:off x="610195" y="1404193"/>
            <a:ext cx="204376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Byte-identical outputs — checksum 0xc5f88dcf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2468166" y="1315045"/>
            <a:ext cx="5662315" cy="143470"/>
          </a:xfrm>
          <a:prstGeom prst="roundRect">
            <a:avLst>
              <a:gd name="adj" fmla="val 4957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2468166" y="1315045"/>
            <a:ext cx="5549503" cy="143470"/>
          </a:xfrm>
          <a:prstGeom prst="roundRect">
            <a:avLst>
              <a:gd name="adj" fmla="val 49571"/>
            </a:avLst>
          </a:prstGeom>
          <a:gradFill rotWithShape="1">
            <a:gsLst>
              <a:gs pos="0">
                <a:srgbClr val="1D4ED8"/>
              </a:gs>
              <a:gs pos="60000">
                <a:srgbClr val="3B82F6"/>
              </a:gs>
              <a:gs pos="100000">
                <a:srgbClr val="60A5FA"/>
              </a:gs>
            </a:gsLst>
            <a:lin ang="0" scaled="1"/>
          </a:gradFill>
          <a:ln/>
          <a:effectLst>
            <a:outerShdw blurRad="128270" dist="50800" dir="16200000" algn="bl" rotWithShape="0">
              <a:srgbClr val="3B82F6">
                <a:alpha val="5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109" y="1286470"/>
            <a:ext cx="57150" cy="200620"/>
          </a:xfrm>
          <a:prstGeom prst="roundRect">
            <a:avLst>
              <a:gd name="adj" fmla="val 51111"/>
            </a:avLst>
          </a:prstGeom>
          <a:solidFill>
            <a:srgbClr val="60A5FA">
              <a:alpha val="80000"/>
            </a:srgbClr>
          </a:solidFill>
          <a:ln/>
          <a:effectLst>
            <a:softEdge rad="29210"/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29220" y="1730871"/>
            <a:ext cx="8285559" cy="546199"/>
          </a:xfrm>
          <a:prstGeom prst="roundRect">
            <a:avLst>
              <a:gd name="adj" fmla="val 15811"/>
            </a:avLst>
          </a:prstGeom>
          <a:solidFill>
            <a:srgbClr val="131929"/>
          </a:solidFill>
          <a:ln w="9525">
            <a:solidFill>
              <a:srgbClr val="3B82F6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0195" y="1868537"/>
            <a:ext cx="204376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5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Guard Rate</a:t>
            </a:r>
            <a:endParaRPr lang="en-US" sz="730" dirty="0"/>
          </a:p>
        </p:txBody>
      </p:sp>
      <p:sp>
        <p:nvSpPr>
          <p:cNvPr id="25" name="Text 23"/>
          <p:cNvSpPr/>
          <p:nvPr/>
        </p:nvSpPr>
        <p:spPr>
          <a:xfrm>
            <a:off x="610195" y="2021384"/>
            <a:ext cx="204376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gates held across every receipted injection</a:t>
            </a:r>
            <a:endParaRPr lang="en-US" sz="620" dirty="0"/>
          </a:p>
        </p:txBody>
      </p:sp>
      <p:sp>
        <p:nvSpPr>
          <p:cNvPr id="26" name="Text 24"/>
          <p:cNvSpPr/>
          <p:nvPr/>
        </p:nvSpPr>
        <p:spPr>
          <a:xfrm>
            <a:off x="2468166" y="1932236"/>
            <a:ext cx="5662315" cy="143470"/>
          </a:xfrm>
          <a:prstGeom prst="roundRect">
            <a:avLst>
              <a:gd name="adj" fmla="val 4957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010" dirty="0"/>
          </a:p>
        </p:txBody>
      </p:sp>
      <p:sp>
        <p:nvSpPr>
          <p:cNvPr id="27" name="Text 25"/>
          <p:cNvSpPr/>
          <p:nvPr/>
        </p:nvSpPr>
        <p:spPr>
          <a:xfrm>
            <a:off x="2468166" y="1932236"/>
            <a:ext cx="5551289" cy="143470"/>
          </a:xfrm>
          <a:prstGeom prst="roundRect">
            <a:avLst>
              <a:gd name="adj" fmla="val 49571"/>
            </a:avLst>
          </a:prstGeom>
          <a:gradFill rotWithShape="1">
            <a:gsLst>
              <a:gs pos="0">
                <a:srgbClr val="0D9488"/>
              </a:gs>
              <a:gs pos="60000">
                <a:srgbClr val="14B8A6"/>
              </a:gs>
              <a:gs pos="100000">
                <a:srgbClr val="2DD4BF"/>
              </a:gs>
            </a:gsLst>
            <a:lin ang="0" scaled="1"/>
          </a:gradFill>
          <a:ln/>
          <a:effectLst>
            <a:outerShdw blurRad="128270" dist="50800" dir="16200000" algn="bl" rotWithShape="0">
              <a:srgbClr val="14B8A6">
                <a:alpha val="5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969895" y="1903661"/>
            <a:ext cx="57150" cy="200620"/>
          </a:xfrm>
          <a:prstGeom prst="roundRect">
            <a:avLst>
              <a:gd name="adj" fmla="val 51111"/>
            </a:avLst>
          </a:prstGeom>
          <a:solidFill>
            <a:srgbClr val="2DD4BF">
              <a:alpha val="80000"/>
            </a:srgbClr>
          </a:solidFill>
          <a:ln/>
          <a:effectLst>
            <a:softEdge rad="29210"/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29220" y="2348061"/>
            <a:ext cx="8285559" cy="546199"/>
          </a:xfrm>
          <a:prstGeom prst="roundRect">
            <a:avLst>
              <a:gd name="adj" fmla="val 15811"/>
            </a:avLst>
          </a:prstGeom>
          <a:solidFill>
            <a:srgbClr val="131929"/>
          </a:solidFill>
          <a:ln w="9525">
            <a:solidFill>
              <a:srgbClr val="3B82F6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0195" y="2485727"/>
            <a:ext cx="204376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5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Core Violations</a:t>
            </a:r>
            <a:endParaRPr lang="en-US" sz="730" dirty="0"/>
          </a:p>
        </p:txBody>
      </p:sp>
      <p:sp>
        <p:nvSpPr>
          <p:cNvPr id="31" name="Text 29"/>
          <p:cNvSpPr/>
          <p:nvPr/>
        </p:nvSpPr>
        <p:spPr>
          <a:xfrm>
            <a:off x="610195" y="2638574"/>
            <a:ext cx="204376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article failures in the receipted window</a:t>
            </a:r>
            <a:endParaRPr lang="en-US" sz="620" dirty="0"/>
          </a:p>
        </p:txBody>
      </p:sp>
      <p:sp>
        <p:nvSpPr>
          <p:cNvPr id="32" name="Text 30"/>
          <p:cNvSpPr/>
          <p:nvPr/>
        </p:nvSpPr>
        <p:spPr>
          <a:xfrm>
            <a:off x="2468166" y="2549426"/>
            <a:ext cx="5551289" cy="143470"/>
          </a:xfrm>
          <a:prstGeom prst="roundRect">
            <a:avLst>
              <a:gd name="adj" fmla="val 4957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464445" y="2549426"/>
            <a:ext cx="379512" cy="143470"/>
          </a:xfrm>
          <a:prstGeom prst="roundRect">
            <a:avLst>
              <a:gd name="adj" fmla="val 49571"/>
            </a:avLst>
          </a:prstGeom>
          <a:gradFill rotWithShape="1">
            <a:gsLst>
              <a:gs pos="0">
                <a:srgbClr val="059669"/>
              </a:gs>
              <a:gs pos="100000">
                <a:srgbClr val="10B981"/>
              </a:gs>
            </a:gsLst>
            <a:lin ang="0" scaled="1"/>
          </a:gradFill>
          <a:ln/>
          <a:effectLst>
            <a:outerShdw blurRad="100330" dist="50800" dir="16200000" algn="bl" rotWithShape="0">
              <a:srgbClr val="10B981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kern="0" spc="34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2926556" y="2549426"/>
            <a:ext cx="5092898" cy="143470"/>
          </a:xfrm>
          <a:prstGeom prst="roundRect">
            <a:avLst>
              <a:gd name="adj" fmla="val 49571"/>
            </a:avLst>
          </a:prstGeom>
          <a:solidFill>
            <a:srgbClr val="10B981">
              <a:alpha val="6000"/>
            </a:srgbClr>
          </a:solidFill>
          <a:ln w="9525">
            <a:solidFill>
              <a:srgbClr val="10B981">
                <a:alpha val="20000"/>
              </a:srgbClr>
            </a:solidFill>
            <a:prstDash val="dash"/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291364" y="2692896"/>
            <a:ext cx="20382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10" dirty="0"/>
          </a:p>
        </p:txBody>
      </p:sp>
      <p:sp>
        <p:nvSpPr>
          <p:cNvPr id="36" name="Text 34"/>
          <p:cNvSpPr/>
          <p:nvPr/>
        </p:nvSpPr>
        <p:spPr>
          <a:xfrm>
            <a:off x="429220" y="3022402"/>
            <a:ext cx="2622947" cy="918270"/>
          </a:xfrm>
          <a:prstGeom prst="roundRect">
            <a:avLst>
              <a:gd name="adj" fmla="val 9405"/>
            </a:avLst>
          </a:prstGeom>
          <a:solidFill>
            <a:srgbClr val="131929"/>
          </a:solidFill>
          <a:ln w="9525">
            <a:solidFill>
              <a:srgbClr val="3B82F6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10195" y="3160068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201" y="3208074"/>
            <a:ext cx="132588" cy="132588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610195" y="3445669"/>
            <a:ext cx="2419267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0"/>
              </a:lnSpc>
              <a:buNone/>
            </a:pPr>
            <a:r>
              <a:rPr lang="en-US" sz="1460" b="1" dirty="0">
                <a:solidFill>
                  <a:srgbClr val="60A5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</a:t>
            </a:r>
            <a:endParaRPr lang="en-US" sz="1460" dirty="0"/>
          </a:p>
        </p:txBody>
      </p:sp>
      <p:sp>
        <p:nvSpPr>
          <p:cNvPr id="40" name="Text 37"/>
          <p:cNvSpPr/>
          <p:nvPr/>
        </p:nvSpPr>
        <p:spPr>
          <a:xfrm>
            <a:off x="610195" y="3674269"/>
            <a:ext cx="248709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56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INJECTIONS · RECEIPTED</a:t>
            </a:r>
            <a:endParaRPr lang="en-US" sz="620" dirty="0"/>
          </a:p>
        </p:txBody>
      </p:sp>
      <p:sp>
        <p:nvSpPr>
          <p:cNvPr id="41" name="Text 38"/>
          <p:cNvSpPr/>
          <p:nvPr/>
        </p:nvSpPr>
        <p:spPr>
          <a:xfrm>
            <a:off x="3152477" y="3022402"/>
            <a:ext cx="7590" cy="918270"/>
          </a:xfrm>
          <a:prstGeom prst="rect">
            <a:avLst/>
          </a:prstGeom>
          <a:solidFill>
            <a:srgbClr val="3B82F6">
              <a:alpha val="1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3260378" y="3022402"/>
            <a:ext cx="2623096" cy="918270"/>
          </a:xfrm>
          <a:prstGeom prst="roundRect">
            <a:avLst>
              <a:gd name="adj" fmla="val 9405"/>
            </a:avLst>
          </a:prstGeom>
          <a:solidFill>
            <a:srgbClr val="131929"/>
          </a:solidFill>
          <a:ln w="9525">
            <a:solidFill>
              <a:srgbClr val="3B82F6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3441353" y="3160068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14B8A6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9359" y="3208074"/>
            <a:ext cx="132588" cy="132588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3441353" y="3445669"/>
            <a:ext cx="2419426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0"/>
              </a:lnSpc>
              <a:buNone/>
            </a:pPr>
            <a:r>
              <a:rPr lang="en-US" sz="1460" b="1" dirty="0">
                <a:solidFill>
                  <a:srgbClr val="2DD4B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1460" dirty="0"/>
          </a:p>
        </p:txBody>
      </p:sp>
      <p:sp>
        <p:nvSpPr>
          <p:cNvPr id="46" name="Text 42"/>
          <p:cNvSpPr/>
          <p:nvPr/>
        </p:nvSpPr>
        <p:spPr>
          <a:xfrm>
            <a:off x="3441353" y="3674269"/>
            <a:ext cx="248726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56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 PHASES PASSED · A/B/C</a:t>
            </a:r>
            <a:endParaRPr lang="en-US" sz="620" dirty="0"/>
          </a:p>
        </p:txBody>
      </p:sp>
      <p:sp>
        <p:nvSpPr>
          <p:cNvPr id="47" name="Text 43"/>
          <p:cNvSpPr/>
          <p:nvPr/>
        </p:nvSpPr>
        <p:spPr>
          <a:xfrm>
            <a:off x="5983784" y="3022402"/>
            <a:ext cx="7590" cy="918270"/>
          </a:xfrm>
          <a:prstGeom prst="rect">
            <a:avLst/>
          </a:prstGeom>
          <a:solidFill>
            <a:srgbClr val="3B82F6">
              <a:alpha val="1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6091684" y="3022402"/>
            <a:ext cx="2623096" cy="918270"/>
          </a:xfrm>
          <a:prstGeom prst="roundRect">
            <a:avLst>
              <a:gd name="adj" fmla="val 9405"/>
            </a:avLst>
          </a:prstGeom>
          <a:solidFill>
            <a:srgbClr val="131929"/>
          </a:solidFill>
          <a:ln w="9525">
            <a:solidFill>
              <a:srgbClr val="3B82F6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5"/>
          <p:cNvSpPr/>
          <p:nvPr/>
        </p:nvSpPr>
        <p:spPr>
          <a:xfrm>
            <a:off x="6272659" y="3160068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0665" y="3208074"/>
            <a:ext cx="132588" cy="132588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6272659" y="3445669"/>
            <a:ext cx="275655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0"/>
              </a:lnSpc>
              <a:buNone/>
            </a:pPr>
            <a:r>
              <a:rPr lang="en-US" sz="1460" b="1" dirty="0">
                <a:solidFill>
                  <a:srgbClr val="34D3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</a:t>
            </a:r>
            <a:endParaRPr lang="en-US" sz="1460" dirty="0"/>
          </a:p>
        </p:txBody>
      </p:sp>
      <p:sp>
        <p:nvSpPr>
          <p:cNvPr id="52" name="Text 47"/>
          <p:cNvSpPr/>
          <p:nvPr/>
        </p:nvSpPr>
        <p:spPr>
          <a:xfrm>
            <a:off x="6573441" y="3512344"/>
            <a:ext cx="24245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80" dirty="0"/>
          </a:p>
        </p:txBody>
      </p:sp>
      <p:sp>
        <p:nvSpPr>
          <p:cNvPr id="53" name="Text 48"/>
          <p:cNvSpPr/>
          <p:nvPr/>
        </p:nvSpPr>
        <p:spPr>
          <a:xfrm>
            <a:off x="6272659" y="3684984"/>
            <a:ext cx="248726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56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ANOMALIES</a:t>
            </a:r>
            <a:endParaRPr lang="en-US" sz="620" dirty="0"/>
          </a:p>
        </p:txBody>
      </p:sp>
      <p:sp>
        <p:nvSpPr>
          <p:cNvPr id="54" name="Text 49"/>
          <p:cNvSpPr/>
          <p:nvPr/>
        </p:nvSpPr>
        <p:spPr>
          <a:xfrm>
            <a:off x="429220" y="4040981"/>
            <a:ext cx="8285559" cy="278011"/>
          </a:xfrm>
          <a:prstGeom prst="roundRect">
            <a:avLst>
              <a:gd name="adj" fmla="val 20557"/>
            </a:avLst>
          </a:prstGeom>
          <a:solidFill>
            <a:srgbClr val="3B82F6">
              <a:alpha val="7000"/>
            </a:srgbClr>
          </a:solidFill>
          <a:ln w="9525">
            <a:solidFill>
              <a:srgbClr val="3B82F6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82" y="4113618"/>
            <a:ext cx="132588" cy="132588"/>
          </a:xfrm>
          <a:prstGeom prst="rect">
            <a:avLst/>
          </a:prstGeom>
        </p:spPr>
      </p:pic>
      <p:sp>
        <p:nvSpPr>
          <p:cNvPr id="56" name="Text 50"/>
          <p:cNvSpPr/>
          <p:nvPr/>
        </p:nvSpPr>
        <p:spPr>
          <a:xfrm>
            <a:off x="733127" y="4115246"/>
            <a:ext cx="438385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SDR-1 certifies the substrate — deterministic by receipt, not by assertion. Prototype: production hardening is the buyer's scope.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B82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B82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572220" cy="1572220"/>
          </a:xfrm>
          <a:prstGeom prst="ellipse">
            <a:avLst/>
          </a:prstGeom>
          <a:gradFill rotWithShape="1">
            <a:gsLst>
              <a:gs pos="0">
                <a:srgbClr val="3B82F6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87729" y="3787229"/>
            <a:ext cx="1356271" cy="1356271"/>
          </a:xfrm>
          <a:prstGeom prst="ellipse">
            <a:avLst/>
          </a:prstGeom>
          <a:gradFill rotWithShape="1">
            <a:gsLst>
              <a:gs pos="0">
                <a:srgbClr val="10B981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72070" y="257770"/>
            <a:ext cx="1208062" cy="184100"/>
          </a:xfrm>
          <a:prstGeom prst="roundRect">
            <a:avLst>
              <a:gd name="adj" fmla="val 77952"/>
            </a:avLst>
          </a:prstGeom>
          <a:solidFill>
            <a:srgbClr val="3B82F6">
              <a:alpha val="15000"/>
            </a:srgbClr>
          </a:solidFill>
          <a:ln w="9525">
            <a:solidFill>
              <a:srgbClr val="3B82F6">
                <a:alpha val="30000"/>
              </a:srgbClr>
            </a:solidFill>
          </a:ln>
        </p:spPr>
        <p:txBody>
          <a:bodyPr wrap="none" lIns="196790" tIns="29210" rIns="100330" bIns="29210" rtlCol="0" anchor="ctr"/>
          <a:lstStyle/>
          <a:p>
            <a:pPr marL="0" indent="0" algn="l">
              <a:buNone/>
            </a:pPr>
            <a:r>
              <a:rPr lang="en-US" sz="560" b="1" kern="0" spc="67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ROADMAP</a:t>
            </a:r>
            <a:endParaRPr lang="en-US" sz="56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252" y="283452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72070" y="556171"/>
            <a:ext cx="1953423" cy="878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97"/>
              </a:lnSpc>
              <a:spcAft>
                <a:spcPts val="560"/>
              </a:spcAft>
              <a:buNone/>
            </a:pPr>
            <a:r>
              <a:rPr lang="en-US" sz="1910" kern="0" spc="-19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October Roadmap</a:t>
            </a:r>
            <a:br/>
            <a:r>
              <a:rPr lang="en-US" sz="1910" kern="0" spc="-19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60-Day Battery</a:t>
            </a:r>
            <a:br/>
            <a:r>
              <a:rPr lang="en-US" sz="1910" kern="0" spc="-19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Merge</a:t>
            </a:r>
            <a:endParaRPr lang="en-US" sz="1910" dirty="0"/>
          </a:p>
        </p:txBody>
      </p:sp>
      <p:sp>
        <p:nvSpPr>
          <p:cNvPr id="9" name="Text 6"/>
          <p:cNvSpPr/>
          <p:nvPr/>
        </p:nvSpPr>
        <p:spPr>
          <a:xfrm>
            <a:off x="372070" y="1463873"/>
            <a:ext cx="34290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3B82F6"/>
              </a:gs>
              <a:gs pos="100000">
                <a:srgbClr val="14B8A6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72070" y="1585764"/>
            <a:ext cx="1953423" cy="4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2"/>
              </a:lnSpc>
              <a:spcAft>
                <a:spcPts val="1240"/>
              </a:spcAft>
              <a:buNone/>
            </a:pPr>
            <a:r>
              <a:rPr lang="en-US" sz="73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GO gate, the 60-day Horsemen benchmark battery, and the December dual-hemisphere merge — every stage receipted on the append-only ledger.</a:t>
            </a:r>
            <a:endParaRPr lang="en-US" sz="730" dirty="0"/>
          </a:p>
        </p:txBody>
      </p:sp>
      <p:sp>
        <p:nvSpPr>
          <p:cNvPr id="11" name="Text 8"/>
          <p:cNvSpPr/>
          <p:nvPr/>
        </p:nvSpPr>
        <p:spPr>
          <a:xfrm>
            <a:off x="372070" y="2247751"/>
            <a:ext cx="200620" cy="21580"/>
          </a:xfrm>
          <a:prstGeom prst="roundRect">
            <a:avLst>
              <a:gd name="adj" fmla="val 64736"/>
            </a:avLst>
          </a:pr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29841" y="2174081"/>
            <a:ext cx="970359" cy="185812"/>
          </a:xfrm>
          <a:prstGeom prst="roundRect">
            <a:avLst>
              <a:gd name="adj" fmla="val 77234"/>
            </a:avLst>
          </a:prstGeom>
          <a:solidFill>
            <a:srgbClr val="3B82F6">
              <a:alpha val="20000"/>
            </a:srgbClr>
          </a:solidFill>
          <a:ln w="9525">
            <a:solidFill>
              <a:srgbClr val="3B82F6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 — PRE-FLIGHT</a:t>
            </a:r>
            <a:endParaRPr lang="en-US" sz="560" dirty="0"/>
          </a:p>
        </p:txBody>
      </p:sp>
      <p:sp>
        <p:nvSpPr>
          <p:cNvPr id="13" name="Text 10"/>
          <p:cNvSpPr/>
          <p:nvPr/>
        </p:nvSpPr>
        <p:spPr>
          <a:xfrm>
            <a:off x="372070" y="2473821"/>
            <a:ext cx="200620" cy="21580"/>
          </a:xfrm>
          <a:prstGeom prst="roundRect">
            <a:avLst>
              <a:gd name="adj" fmla="val 64736"/>
            </a:avLst>
          </a:prstGeom>
          <a:solidFill>
            <a:srgbClr val="14B8A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29841" y="2400151"/>
            <a:ext cx="1113234" cy="185812"/>
          </a:xfrm>
          <a:prstGeom prst="roundRect">
            <a:avLst>
              <a:gd name="adj" fmla="val 77234"/>
            </a:avLst>
          </a:prstGeom>
          <a:solidFill>
            <a:srgbClr val="14B8A6">
              <a:alpha val="20000"/>
            </a:srgbClr>
          </a:solidFill>
          <a:ln w="9525">
            <a:solidFill>
              <a:srgbClr val="14B8A6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7 — KICKOFF</a:t>
            </a:r>
            <a:endParaRPr lang="en-US" sz="560" dirty="0"/>
          </a:p>
        </p:txBody>
      </p:sp>
      <p:sp>
        <p:nvSpPr>
          <p:cNvPr id="15" name="Text 12"/>
          <p:cNvSpPr/>
          <p:nvPr/>
        </p:nvSpPr>
        <p:spPr>
          <a:xfrm>
            <a:off x="372070" y="2699891"/>
            <a:ext cx="200620" cy="21580"/>
          </a:xfrm>
          <a:prstGeom prst="roundRect">
            <a:avLst>
              <a:gd name="adj" fmla="val 64736"/>
            </a:avLst>
          </a:prstGeom>
          <a:solidFill>
            <a:srgbClr val="10B98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29841" y="2626221"/>
            <a:ext cx="1295995" cy="185812"/>
          </a:xfrm>
          <a:prstGeom prst="roundRect">
            <a:avLst>
              <a:gd name="adj" fmla="val 77234"/>
            </a:avLst>
          </a:prstGeom>
          <a:solidFill>
            <a:srgbClr val="10B981">
              <a:alpha val="20000"/>
            </a:srgbClr>
          </a:solidFill>
          <a:ln w="9525">
            <a:solidFill>
              <a:srgbClr val="10B981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/ MERGE</a:t>
            </a:r>
            <a:endParaRPr lang="en-US" sz="560" dirty="0"/>
          </a:p>
        </p:txBody>
      </p:sp>
      <p:sp>
        <p:nvSpPr>
          <p:cNvPr id="17" name="Text 14"/>
          <p:cNvSpPr/>
          <p:nvPr/>
        </p:nvSpPr>
        <p:spPr>
          <a:xfrm>
            <a:off x="372070" y="4348014"/>
            <a:ext cx="1915120" cy="566886"/>
          </a:xfrm>
          <a:prstGeom prst="roundRect">
            <a:avLst>
              <a:gd name="adj" fmla="val 12546"/>
            </a:avLst>
          </a:prstGeom>
          <a:solidFill>
            <a:srgbClr val="131929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81905" y="4443859"/>
            <a:ext cx="1864995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51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SPAN</a:t>
            </a:r>
            <a:endParaRPr lang="en-US" sz="510" dirty="0"/>
          </a:p>
        </p:txBody>
      </p:sp>
      <p:sp>
        <p:nvSpPr>
          <p:cNvPr id="19" name="Text 16"/>
          <p:cNvSpPr/>
          <p:nvPr/>
        </p:nvSpPr>
        <p:spPr>
          <a:xfrm>
            <a:off x="481905" y="4584055"/>
            <a:ext cx="352633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101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</a:t>
            </a:r>
            <a:endParaRPr lang="en-US" sz="1010" dirty="0"/>
          </a:p>
        </p:txBody>
      </p:sp>
      <p:sp>
        <p:nvSpPr>
          <p:cNvPr id="20" name="Text 17"/>
          <p:cNvSpPr/>
          <p:nvPr/>
        </p:nvSpPr>
        <p:spPr>
          <a:xfrm>
            <a:off x="481905" y="4712345"/>
            <a:ext cx="35263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GATE</a:t>
            </a:r>
            <a:endParaRPr lang="en-US" sz="56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6904" y="4663976"/>
            <a:ext cx="214313" cy="7515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746305" y="4584055"/>
            <a:ext cx="431051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010"/>
              </a:lnSpc>
              <a:buNone/>
            </a:pPr>
            <a:r>
              <a:rPr lang="en-US" sz="101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7</a:t>
            </a:r>
            <a:endParaRPr lang="en-US" sz="1010" dirty="0"/>
          </a:p>
        </p:txBody>
      </p:sp>
      <p:sp>
        <p:nvSpPr>
          <p:cNvPr id="23" name="Text 19"/>
          <p:cNvSpPr/>
          <p:nvPr/>
        </p:nvSpPr>
        <p:spPr>
          <a:xfrm>
            <a:off x="1746305" y="4712345"/>
            <a:ext cx="431051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40"/>
              </a:lnSpc>
              <a:buNone/>
            </a:pPr>
            <a:r>
              <a:rPr lang="en-US" sz="56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560" dirty="0"/>
          </a:p>
        </p:txBody>
      </p:sp>
      <p:sp>
        <p:nvSpPr>
          <p:cNvPr id="24" name="Text 20"/>
          <p:cNvSpPr/>
          <p:nvPr/>
        </p:nvSpPr>
        <p:spPr>
          <a:xfrm>
            <a:off x="5665515" y="700385"/>
            <a:ext cx="13841" cy="3771900"/>
          </a:xfrm>
          <a:prstGeom prst="rect">
            <a:avLst/>
          </a:prstGeom>
          <a:gradFill rotWithShape="1">
            <a:gsLst>
              <a:gs pos="0">
                <a:srgbClr val="3B82F6">
                  <a:alpha val="80000"/>
                </a:srgbClr>
              </a:gs>
              <a:gs pos="40000">
                <a:srgbClr val="14B8A6">
                  <a:alpha val="80000"/>
                </a:srgbClr>
              </a:gs>
              <a:gs pos="100000">
                <a:srgbClr val="10B981">
                  <a:alpha val="9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2572941" y="759619"/>
            <a:ext cx="2784574" cy="510034"/>
          </a:xfrm>
          <a:prstGeom prst="roundRect">
            <a:avLst>
              <a:gd name="adj" fmla="val 13944"/>
            </a:avLst>
          </a:prstGeom>
          <a:solidFill>
            <a:srgbClr val="131929"/>
          </a:solidFill>
          <a:ln/>
          <a:effectLst>
            <a:outerShdw blurRad="114300" dist="50800" dir="16200000" algn="bl" rotWithShape="0">
              <a:srgbClr val="3B82F6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5338465" y="759619"/>
            <a:ext cx="19050" cy="510034"/>
          </a:xfrm>
          <a:custGeom>
            <a:avLst/>
            <a:gdLst/>
            <a:ahLst/>
            <a:cxnLst/>
            <a:rect l="l" t="t" r="r" b="b"/>
            <a:pathLst>
              <a:path w="19050" h="510034">
                <a:moveTo>
                  <a:pt x="0" y="22677"/>
                </a:moveTo>
                <a:lnTo>
                  <a:pt x="2381" y="25369"/>
                </a:lnTo>
                <a:lnTo>
                  <a:pt x="4763" y="28363"/>
                </a:lnTo>
                <a:lnTo>
                  <a:pt x="7144" y="31727"/>
                </a:lnTo>
                <a:lnTo>
                  <a:pt x="9525" y="35566"/>
                </a:lnTo>
                <a:lnTo>
                  <a:pt x="11906" y="40054"/>
                </a:lnTo>
                <a:lnTo>
                  <a:pt x="14288" y="45532"/>
                </a:lnTo>
                <a:lnTo>
                  <a:pt x="16669" y="52871"/>
                </a:lnTo>
                <a:lnTo>
                  <a:pt x="19050" y="71120"/>
                </a:lnTo>
                <a:lnTo>
                  <a:pt x="19050" y="438914"/>
                </a:lnTo>
                <a:lnTo>
                  <a:pt x="16669" y="457163"/>
                </a:lnTo>
                <a:lnTo>
                  <a:pt x="14288" y="464502"/>
                </a:lnTo>
                <a:lnTo>
                  <a:pt x="11906" y="469980"/>
                </a:lnTo>
                <a:lnTo>
                  <a:pt x="9525" y="474468"/>
                </a:lnTo>
                <a:lnTo>
                  <a:pt x="7144" y="478307"/>
                </a:lnTo>
                <a:lnTo>
                  <a:pt x="4763" y="481670"/>
                </a:lnTo>
                <a:lnTo>
                  <a:pt x="2381" y="484665"/>
                </a:lnTo>
                <a:lnTo>
                  <a:pt x="0" y="487357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4394061" y="840135"/>
            <a:ext cx="844094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744"/>
              </a:lnSpc>
              <a:buNone/>
            </a:pPr>
            <a:r>
              <a:rPr lang="en-US" sz="620" b="1" kern="0" spc="3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PACKET</a:t>
            </a:r>
            <a:endParaRPr lang="en-US" sz="62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77863" y="827717"/>
            <a:ext cx="132588" cy="13258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2621953" y="956072"/>
            <a:ext cx="2616202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918"/>
              </a:lnSpc>
              <a:buNone/>
            </a:pPr>
            <a:r>
              <a:rPr lang="en-US" sz="68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Repo-commit criteria, license check, Day-0 baselines. First quantum-attack run fires. Gated on Leon’s GO.</a:t>
            </a:r>
            <a:endParaRPr lang="en-US" sz="680" dirty="0"/>
          </a:p>
        </p:txBody>
      </p:sp>
      <p:sp>
        <p:nvSpPr>
          <p:cNvPr id="30" name="Text 25"/>
          <p:cNvSpPr/>
          <p:nvPr/>
        </p:nvSpPr>
        <p:spPr>
          <a:xfrm>
            <a:off x="5987355" y="1388269"/>
            <a:ext cx="2784574" cy="510034"/>
          </a:xfrm>
          <a:prstGeom prst="roundRect">
            <a:avLst>
              <a:gd name="adj" fmla="val 13944"/>
            </a:avLst>
          </a:prstGeom>
          <a:solidFill>
            <a:srgbClr val="131929"/>
          </a:solidFill>
          <a:ln/>
          <a:effectLst>
            <a:outerShdw blurRad="114300" dist="50800" dir="16200000" algn="bl" rotWithShape="0">
              <a:srgbClr val="14B8A6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5987355" y="1388269"/>
            <a:ext cx="19050" cy="510034"/>
          </a:xfrm>
          <a:custGeom>
            <a:avLst/>
            <a:gdLst/>
            <a:ahLst/>
            <a:cxnLst/>
            <a:rect l="l" t="t" r="r" b="b"/>
            <a:pathLst>
              <a:path w="19050" h="510034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487357"/>
                </a:lnTo>
                <a:lnTo>
                  <a:pt x="16669" y="484665"/>
                </a:lnTo>
                <a:lnTo>
                  <a:pt x="14288" y="481670"/>
                </a:lnTo>
                <a:lnTo>
                  <a:pt x="11906" y="478307"/>
                </a:lnTo>
                <a:lnTo>
                  <a:pt x="9525" y="474468"/>
                </a:lnTo>
                <a:lnTo>
                  <a:pt x="7144" y="469980"/>
                </a:lnTo>
                <a:lnTo>
                  <a:pt x="4763" y="464502"/>
                </a:lnTo>
                <a:lnTo>
                  <a:pt x="2381" y="457163"/>
                </a:lnTo>
                <a:lnTo>
                  <a:pt x="0" y="438914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8762405" y="1388269"/>
            <a:ext cx="9525" cy="510034"/>
          </a:xfrm>
          <a:custGeom>
            <a:avLst/>
            <a:gdLst/>
            <a:ahLst/>
            <a:cxnLst/>
            <a:rect l="l" t="t" r="r" b="b"/>
            <a:pathLst>
              <a:path w="9525" h="510034">
                <a:moveTo>
                  <a:pt x="0" y="35566"/>
                </a:moveTo>
                <a:lnTo>
                  <a:pt x="1191" y="37713"/>
                </a:lnTo>
                <a:lnTo>
                  <a:pt x="2381" y="40054"/>
                </a:lnTo>
                <a:lnTo>
                  <a:pt x="3572" y="42636"/>
                </a:lnTo>
                <a:lnTo>
                  <a:pt x="4763" y="45532"/>
                </a:lnTo>
                <a:lnTo>
                  <a:pt x="5953" y="48865"/>
                </a:lnTo>
                <a:lnTo>
                  <a:pt x="7144" y="52871"/>
                </a:lnTo>
                <a:lnTo>
                  <a:pt x="8334" y="58161"/>
                </a:lnTo>
                <a:lnTo>
                  <a:pt x="9525" y="71120"/>
                </a:lnTo>
                <a:lnTo>
                  <a:pt x="9525" y="438914"/>
                </a:lnTo>
                <a:lnTo>
                  <a:pt x="8334" y="451873"/>
                </a:lnTo>
                <a:lnTo>
                  <a:pt x="7144" y="457163"/>
                </a:lnTo>
                <a:lnTo>
                  <a:pt x="5953" y="461169"/>
                </a:lnTo>
                <a:lnTo>
                  <a:pt x="4763" y="464502"/>
                </a:lnTo>
                <a:lnTo>
                  <a:pt x="3572" y="467398"/>
                </a:lnTo>
                <a:lnTo>
                  <a:pt x="2381" y="469980"/>
                </a:lnTo>
                <a:lnTo>
                  <a:pt x="1191" y="472321"/>
                </a:lnTo>
                <a:lnTo>
                  <a:pt x="0" y="474468"/>
                </a:lnTo>
                <a:close/>
              </a:path>
            </a:pathLst>
          </a:custGeom>
          <a:solidFill>
            <a:srgbClr val="FFFFFF">
              <a:alpha val="7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6159996" y="1468785"/>
            <a:ext cx="850478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44"/>
              </a:lnSpc>
              <a:buNone/>
            </a:pPr>
            <a:r>
              <a:rPr lang="en-US" sz="620" b="1" kern="0" spc="3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KICKOFF</a:t>
            </a:r>
            <a:endParaRPr lang="en-US" sz="62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67062" y="1456367"/>
            <a:ext cx="132588" cy="13258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106716" y="1584722"/>
            <a:ext cx="2606486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8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Lindy 30 concludes; the 60-day Horsemen battery begins — four independent chaos streams, nightly 11pm CT.</a:t>
            </a:r>
            <a:endParaRPr lang="en-US" sz="680" dirty="0"/>
          </a:p>
        </p:txBody>
      </p:sp>
      <p:sp>
        <p:nvSpPr>
          <p:cNvPr id="36" name="Text 30"/>
          <p:cNvSpPr/>
          <p:nvPr/>
        </p:nvSpPr>
        <p:spPr>
          <a:xfrm>
            <a:off x="2572941" y="2016919"/>
            <a:ext cx="2784574" cy="510034"/>
          </a:xfrm>
          <a:prstGeom prst="roundRect">
            <a:avLst>
              <a:gd name="adj" fmla="val 13944"/>
            </a:avLst>
          </a:prstGeom>
          <a:solidFill>
            <a:srgbClr val="131929"/>
          </a:solidFill>
          <a:ln/>
          <a:effectLst>
            <a:outerShdw blurRad="114300" dist="50800" dir="16200000" algn="bl" rotWithShape="0">
              <a:srgbClr val="3B82F6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5338465" y="2016919"/>
            <a:ext cx="19050" cy="510034"/>
          </a:xfrm>
          <a:custGeom>
            <a:avLst/>
            <a:gdLst/>
            <a:ahLst/>
            <a:cxnLst/>
            <a:rect l="l" t="t" r="r" b="b"/>
            <a:pathLst>
              <a:path w="19050" h="510034">
                <a:moveTo>
                  <a:pt x="0" y="22677"/>
                </a:moveTo>
                <a:lnTo>
                  <a:pt x="2381" y="25369"/>
                </a:lnTo>
                <a:lnTo>
                  <a:pt x="4763" y="28363"/>
                </a:lnTo>
                <a:lnTo>
                  <a:pt x="7144" y="31727"/>
                </a:lnTo>
                <a:lnTo>
                  <a:pt x="9525" y="35566"/>
                </a:lnTo>
                <a:lnTo>
                  <a:pt x="11906" y="40054"/>
                </a:lnTo>
                <a:lnTo>
                  <a:pt x="14288" y="45532"/>
                </a:lnTo>
                <a:lnTo>
                  <a:pt x="16669" y="52871"/>
                </a:lnTo>
                <a:lnTo>
                  <a:pt x="19050" y="71120"/>
                </a:lnTo>
                <a:lnTo>
                  <a:pt x="19050" y="438914"/>
                </a:lnTo>
                <a:lnTo>
                  <a:pt x="16669" y="457163"/>
                </a:lnTo>
                <a:lnTo>
                  <a:pt x="14288" y="464502"/>
                </a:lnTo>
                <a:lnTo>
                  <a:pt x="11906" y="469980"/>
                </a:lnTo>
                <a:lnTo>
                  <a:pt x="9525" y="474468"/>
                </a:lnTo>
                <a:lnTo>
                  <a:pt x="7144" y="478307"/>
                </a:lnTo>
                <a:lnTo>
                  <a:pt x="4763" y="481670"/>
                </a:lnTo>
                <a:lnTo>
                  <a:pt x="2381" y="484665"/>
                </a:lnTo>
                <a:lnTo>
                  <a:pt x="0" y="487357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4180909" y="2097435"/>
            <a:ext cx="1057245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744"/>
              </a:lnSpc>
              <a:buNone/>
            </a:pPr>
            <a:r>
              <a:rPr lang="en-US" sz="620" b="1" kern="0" spc="3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CHAOS CYCLE</a:t>
            </a:r>
            <a:endParaRPr lang="en-US" sz="620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84088" y="2085017"/>
            <a:ext cx="132588" cy="13258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2621953" y="2213372"/>
            <a:ext cx="2616202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918"/>
              </a:lnSpc>
              <a:buNone/>
            </a:pPr>
            <a:r>
              <a:rPr lang="en-US" sz="68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SIM-A + SIM-B bifurcated streams feed the hub pattern library. Auto-heal ratio vs the 88.5% baseline.</a:t>
            </a:r>
            <a:endParaRPr lang="en-US" sz="680" dirty="0"/>
          </a:p>
        </p:txBody>
      </p:sp>
      <p:sp>
        <p:nvSpPr>
          <p:cNvPr id="41" name="Text 34"/>
          <p:cNvSpPr/>
          <p:nvPr/>
        </p:nvSpPr>
        <p:spPr>
          <a:xfrm>
            <a:off x="5987355" y="2645569"/>
            <a:ext cx="2784574" cy="510034"/>
          </a:xfrm>
          <a:prstGeom prst="roundRect">
            <a:avLst>
              <a:gd name="adj" fmla="val 13944"/>
            </a:avLst>
          </a:prstGeom>
          <a:solidFill>
            <a:srgbClr val="131929"/>
          </a:solidFill>
          <a:ln/>
          <a:effectLst>
            <a:outerShdw blurRad="114300" dist="50800" dir="16200000" algn="bl" rotWithShape="0">
              <a:srgbClr val="14B8A6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5987355" y="2645569"/>
            <a:ext cx="19050" cy="510034"/>
          </a:xfrm>
          <a:custGeom>
            <a:avLst/>
            <a:gdLst/>
            <a:ahLst/>
            <a:cxnLst/>
            <a:rect l="l" t="t" r="r" b="b"/>
            <a:pathLst>
              <a:path w="19050" h="510034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487357"/>
                </a:lnTo>
                <a:lnTo>
                  <a:pt x="16669" y="484665"/>
                </a:lnTo>
                <a:lnTo>
                  <a:pt x="14288" y="481670"/>
                </a:lnTo>
                <a:lnTo>
                  <a:pt x="11906" y="478307"/>
                </a:lnTo>
                <a:lnTo>
                  <a:pt x="9525" y="474468"/>
                </a:lnTo>
                <a:lnTo>
                  <a:pt x="7144" y="469980"/>
                </a:lnTo>
                <a:lnTo>
                  <a:pt x="4763" y="464502"/>
                </a:lnTo>
                <a:lnTo>
                  <a:pt x="2381" y="457163"/>
                </a:lnTo>
                <a:lnTo>
                  <a:pt x="0" y="438914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6"/>
          <p:cNvSpPr/>
          <p:nvPr/>
        </p:nvSpPr>
        <p:spPr>
          <a:xfrm>
            <a:off x="8762405" y="2645569"/>
            <a:ext cx="9525" cy="510034"/>
          </a:xfrm>
          <a:custGeom>
            <a:avLst/>
            <a:gdLst/>
            <a:ahLst/>
            <a:cxnLst/>
            <a:rect l="l" t="t" r="r" b="b"/>
            <a:pathLst>
              <a:path w="9525" h="510034">
                <a:moveTo>
                  <a:pt x="0" y="35566"/>
                </a:moveTo>
                <a:lnTo>
                  <a:pt x="1191" y="37713"/>
                </a:lnTo>
                <a:lnTo>
                  <a:pt x="2381" y="40054"/>
                </a:lnTo>
                <a:lnTo>
                  <a:pt x="3572" y="42636"/>
                </a:lnTo>
                <a:lnTo>
                  <a:pt x="4763" y="45532"/>
                </a:lnTo>
                <a:lnTo>
                  <a:pt x="5953" y="48865"/>
                </a:lnTo>
                <a:lnTo>
                  <a:pt x="7144" y="52871"/>
                </a:lnTo>
                <a:lnTo>
                  <a:pt x="8334" y="58161"/>
                </a:lnTo>
                <a:lnTo>
                  <a:pt x="9525" y="71120"/>
                </a:lnTo>
                <a:lnTo>
                  <a:pt x="9525" y="438914"/>
                </a:lnTo>
                <a:lnTo>
                  <a:pt x="8334" y="451873"/>
                </a:lnTo>
                <a:lnTo>
                  <a:pt x="7144" y="457163"/>
                </a:lnTo>
                <a:lnTo>
                  <a:pt x="5953" y="461169"/>
                </a:lnTo>
                <a:lnTo>
                  <a:pt x="4763" y="464502"/>
                </a:lnTo>
                <a:lnTo>
                  <a:pt x="3572" y="467398"/>
                </a:lnTo>
                <a:lnTo>
                  <a:pt x="2381" y="469980"/>
                </a:lnTo>
                <a:lnTo>
                  <a:pt x="1191" y="472321"/>
                </a:lnTo>
                <a:lnTo>
                  <a:pt x="0" y="474468"/>
                </a:lnTo>
                <a:close/>
              </a:path>
            </a:pathLst>
          </a:custGeom>
          <a:solidFill>
            <a:srgbClr val="FFFFFF">
              <a:alpha val="7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7"/>
          <p:cNvSpPr/>
          <p:nvPr/>
        </p:nvSpPr>
        <p:spPr>
          <a:xfrm>
            <a:off x="6159996" y="2726085"/>
            <a:ext cx="942484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44"/>
              </a:lnSpc>
              <a:buNone/>
            </a:pPr>
            <a:r>
              <a:rPr lang="en-US" sz="620" b="1" kern="0" spc="3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MID-BATTERY REVIEW</a:t>
            </a:r>
            <a:endParaRPr lang="en-US" sz="620" dirty="0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67062" y="2713667"/>
            <a:ext cx="132588" cy="132588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106716" y="2842022"/>
            <a:ext cx="2606486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8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stats, falsifier results, timing deltas. New playbooks only via SIP → Leon approval → deployment.</a:t>
            </a:r>
            <a:endParaRPr lang="en-US" sz="680" dirty="0"/>
          </a:p>
        </p:txBody>
      </p:sp>
      <p:sp>
        <p:nvSpPr>
          <p:cNvPr id="47" name="Text 39"/>
          <p:cNvSpPr/>
          <p:nvPr/>
        </p:nvSpPr>
        <p:spPr>
          <a:xfrm>
            <a:off x="2572941" y="3274219"/>
            <a:ext cx="2784574" cy="510034"/>
          </a:xfrm>
          <a:prstGeom prst="roundRect">
            <a:avLst>
              <a:gd name="adj" fmla="val 13944"/>
            </a:avLst>
          </a:prstGeom>
          <a:solidFill>
            <a:srgbClr val="131929"/>
          </a:solidFill>
          <a:ln/>
          <a:effectLst>
            <a:outerShdw blurRad="114300" dist="50800" dir="16200000" algn="bl" rotWithShape="0">
              <a:srgbClr val="3B82F6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0"/>
          <p:cNvSpPr/>
          <p:nvPr/>
        </p:nvSpPr>
        <p:spPr>
          <a:xfrm>
            <a:off x="5338465" y="3274219"/>
            <a:ext cx="19050" cy="510034"/>
          </a:xfrm>
          <a:custGeom>
            <a:avLst/>
            <a:gdLst/>
            <a:ahLst/>
            <a:cxnLst/>
            <a:rect l="l" t="t" r="r" b="b"/>
            <a:pathLst>
              <a:path w="19050" h="510034">
                <a:moveTo>
                  <a:pt x="0" y="22677"/>
                </a:moveTo>
                <a:lnTo>
                  <a:pt x="2381" y="25369"/>
                </a:lnTo>
                <a:lnTo>
                  <a:pt x="4763" y="28363"/>
                </a:lnTo>
                <a:lnTo>
                  <a:pt x="7144" y="31727"/>
                </a:lnTo>
                <a:lnTo>
                  <a:pt x="9525" y="35566"/>
                </a:lnTo>
                <a:lnTo>
                  <a:pt x="11906" y="40054"/>
                </a:lnTo>
                <a:lnTo>
                  <a:pt x="14288" y="45532"/>
                </a:lnTo>
                <a:lnTo>
                  <a:pt x="16669" y="52871"/>
                </a:lnTo>
                <a:lnTo>
                  <a:pt x="19050" y="71120"/>
                </a:lnTo>
                <a:lnTo>
                  <a:pt x="19050" y="438914"/>
                </a:lnTo>
                <a:lnTo>
                  <a:pt x="16669" y="457163"/>
                </a:lnTo>
                <a:lnTo>
                  <a:pt x="14288" y="464502"/>
                </a:lnTo>
                <a:lnTo>
                  <a:pt x="11906" y="469980"/>
                </a:lnTo>
                <a:lnTo>
                  <a:pt x="9525" y="474468"/>
                </a:lnTo>
                <a:lnTo>
                  <a:pt x="7144" y="478307"/>
                </a:lnTo>
                <a:lnTo>
                  <a:pt x="4763" y="481670"/>
                </a:lnTo>
                <a:lnTo>
                  <a:pt x="2381" y="484665"/>
                </a:lnTo>
                <a:lnTo>
                  <a:pt x="0" y="487357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1"/>
          <p:cNvSpPr/>
          <p:nvPr/>
        </p:nvSpPr>
        <p:spPr>
          <a:xfrm>
            <a:off x="4189914" y="3354735"/>
            <a:ext cx="1048241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744"/>
              </a:lnSpc>
              <a:buNone/>
            </a:pPr>
            <a:r>
              <a:rPr lang="en-US" sz="620" b="1" kern="0" spc="3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CONCLUSION</a:t>
            </a:r>
            <a:endParaRPr lang="en-US" sz="620" dirty="0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92274" y="3342317"/>
            <a:ext cx="132588" cy="132588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2621953" y="3470672"/>
            <a:ext cx="2616202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918"/>
              </a:lnSpc>
              <a:buNone/>
            </a:pPr>
            <a:r>
              <a:rPr lang="en-US" sz="68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compiled: guard rates, learning metrics, pattern library growth across all four arms.</a:t>
            </a:r>
            <a:endParaRPr lang="en-US" sz="680" dirty="0"/>
          </a:p>
        </p:txBody>
      </p:sp>
      <p:sp>
        <p:nvSpPr>
          <p:cNvPr id="52" name="Text 43"/>
          <p:cNvSpPr/>
          <p:nvPr/>
        </p:nvSpPr>
        <p:spPr>
          <a:xfrm>
            <a:off x="5987355" y="3961209"/>
            <a:ext cx="2784574" cy="512064"/>
          </a:xfrm>
          <a:prstGeom prst="roundRect">
            <a:avLst>
              <a:gd name="adj" fmla="val 18074"/>
            </a:avLst>
          </a:prstGeom>
          <a:solidFill>
            <a:srgbClr val="10B981">
              <a:alpha val="6000"/>
            </a:srgbClr>
          </a:solidFill>
          <a:ln/>
          <a:effectLst>
            <a:outerShdw blurRad="143510" dist="50800" dir="16200000" algn="bl" rotWithShape="0">
              <a:srgbClr val="10B981">
                <a:alpha val="1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4"/>
          <p:cNvSpPr/>
          <p:nvPr/>
        </p:nvSpPr>
        <p:spPr>
          <a:xfrm>
            <a:off x="5987355" y="3961209"/>
            <a:ext cx="19050" cy="512064"/>
          </a:xfrm>
          <a:custGeom>
            <a:avLst/>
            <a:gdLst/>
            <a:ahLst/>
            <a:cxnLst/>
            <a:rect l="l" t="t" r="r" b="b"/>
            <a:pathLst>
              <a:path w="19050" h="393502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370825"/>
                </a:lnTo>
                <a:lnTo>
                  <a:pt x="16669" y="368132"/>
                </a:lnTo>
                <a:lnTo>
                  <a:pt x="14288" y="365138"/>
                </a:lnTo>
                <a:lnTo>
                  <a:pt x="11906" y="361774"/>
                </a:lnTo>
                <a:lnTo>
                  <a:pt x="9525" y="357936"/>
                </a:lnTo>
                <a:lnTo>
                  <a:pt x="7144" y="353447"/>
                </a:lnTo>
                <a:lnTo>
                  <a:pt x="4763" y="347969"/>
                </a:lnTo>
                <a:lnTo>
                  <a:pt x="2381" y="340631"/>
                </a:lnTo>
                <a:lnTo>
                  <a:pt x="0" y="322382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5"/>
          <p:cNvSpPr/>
          <p:nvPr/>
        </p:nvSpPr>
        <p:spPr>
          <a:xfrm>
            <a:off x="8762405" y="3961209"/>
            <a:ext cx="9525" cy="512064"/>
          </a:xfrm>
          <a:custGeom>
            <a:avLst/>
            <a:gdLst/>
            <a:ahLst/>
            <a:cxnLst/>
            <a:rect l="l" t="t" r="r" b="b"/>
            <a:pathLst>
              <a:path w="9525" h="393502">
                <a:moveTo>
                  <a:pt x="0" y="35566"/>
                </a:moveTo>
                <a:lnTo>
                  <a:pt x="1191" y="37713"/>
                </a:lnTo>
                <a:lnTo>
                  <a:pt x="2381" y="40054"/>
                </a:lnTo>
                <a:lnTo>
                  <a:pt x="3572" y="42636"/>
                </a:lnTo>
                <a:lnTo>
                  <a:pt x="4763" y="45532"/>
                </a:lnTo>
                <a:lnTo>
                  <a:pt x="5953" y="48865"/>
                </a:lnTo>
                <a:lnTo>
                  <a:pt x="7144" y="52871"/>
                </a:lnTo>
                <a:lnTo>
                  <a:pt x="8334" y="58161"/>
                </a:lnTo>
                <a:lnTo>
                  <a:pt x="9525" y="71120"/>
                </a:lnTo>
                <a:lnTo>
                  <a:pt x="9525" y="322382"/>
                </a:lnTo>
                <a:lnTo>
                  <a:pt x="8334" y="335341"/>
                </a:lnTo>
                <a:lnTo>
                  <a:pt x="7144" y="340631"/>
                </a:lnTo>
                <a:lnTo>
                  <a:pt x="5953" y="344637"/>
                </a:lnTo>
                <a:lnTo>
                  <a:pt x="4763" y="347969"/>
                </a:lnTo>
                <a:lnTo>
                  <a:pt x="3572" y="350865"/>
                </a:lnTo>
                <a:lnTo>
                  <a:pt x="2381" y="353447"/>
                </a:lnTo>
                <a:lnTo>
                  <a:pt x="1191" y="355788"/>
                </a:lnTo>
                <a:lnTo>
                  <a:pt x="0" y="357936"/>
                </a:lnTo>
                <a:close/>
              </a:path>
            </a:pathLst>
          </a:custGeom>
          <a:solidFill>
            <a:srgbClr val="FFFFFF">
              <a:alpha val="7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6"/>
          <p:cNvSpPr/>
          <p:nvPr/>
        </p:nvSpPr>
        <p:spPr>
          <a:xfrm>
            <a:off x="6159996" y="4041725"/>
            <a:ext cx="1163657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44"/>
              </a:lnSpc>
              <a:buNone/>
            </a:pPr>
            <a:r>
              <a:rPr lang="en-US" sz="620" b="1" kern="0" spc="3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DUAL-HEMISPHERE MERGE</a:t>
            </a:r>
            <a:endParaRPr lang="en-US" sz="620" dirty="0"/>
          </a:p>
        </p:txBody>
      </p:sp>
      <p:pic>
        <p:nvPicPr>
          <p:cNvPr id="5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67062" y="4029307"/>
            <a:ext cx="132588" cy="132588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6106716" y="4157663"/>
            <a:ext cx="260807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80" dirty="0">
                <a:solidFill>
                  <a:srgbClr val="6EE7B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merge of the two hemispheres — one organism, two runtimes, one cage.</a:t>
            </a:r>
            <a:endParaRPr lang="en-US" sz="680" dirty="0"/>
          </a:p>
        </p:txBody>
      </p:sp>
      <p:sp>
        <p:nvSpPr>
          <p:cNvPr id="58" name="Text 48"/>
          <p:cNvSpPr/>
          <p:nvPr/>
        </p:nvSpPr>
        <p:spPr>
          <a:xfrm>
            <a:off x="5215235" y="1010915"/>
            <a:ext cx="457200" cy="759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49"/>
          <p:cNvSpPr/>
          <p:nvPr/>
        </p:nvSpPr>
        <p:spPr>
          <a:xfrm>
            <a:off x="5672435" y="1010915"/>
            <a:ext cx="457200" cy="759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0"/>
          <p:cNvSpPr/>
          <p:nvPr/>
        </p:nvSpPr>
        <p:spPr>
          <a:xfrm>
            <a:off x="5215235" y="1639565"/>
            <a:ext cx="457200" cy="759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1"/>
          <p:cNvSpPr/>
          <p:nvPr/>
        </p:nvSpPr>
        <p:spPr>
          <a:xfrm>
            <a:off x="5672435" y="1639565"/>
            <a:ext cx="457200" cy="759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2"/>
          <p:cNvSpPr/>
          <p:nvPr/>
        </p:nvSpPr>
        <p:spPr>
          <a:xfrm>
            <a:off x="5215235" y="2268215"/>
            <a:ext cx="457200" cy="759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3"/>
          <p:cNvSpPr/>
          <p:nvPr/>
        </p:nvSpPr>
        <p:spPr>
          <a:xfrm>
            <a:off x="5672435" y="2268215"/>
            <a:ext cx="457200" cy="759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4"/>
          <p:cNvSpPr/>
          <p:nvPr/>
        </p:nvSpPr>
        <p:spPr>
          <a:xfrm>
            <a:off x="5215235" y="2896865"/>
            <a:ext cx="457200" cy="759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5"/>
          <p:cNvSpPr/>
          <p:nvPr/>
        </p:nvSpPr>
        <p:spPr>
          <a:xfrm>
            <a:off x="5672435" y="2896865"/>
            <a:ext cx="457200" cy="759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6"/>
          <p:cNvSpPr/>
          <p:nvPr/>
        </p:nvSpPr>
        <p:spPr>
          <a:xfrm>
            <a:off x="5215235" y="3525515"/>
            <a:ext cx="457200" cy="759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7"/>
          <p:cNvSpPr/>
          <p:nvPr/>
        </p:nvSpPr>
        <p:spPr>
          <a:xfrm>
            <a:off x="5672435" y="3525515"/>
            <a:ext cx="457200" cy="759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58"/>
          <p:cNvSpPr/>
          <p:nvPr/>
        </p:nvSpPr>
        <p:spPr>
          <a:xfrm>
            <a:off x="5215235" y="4206240"/>
            <a:ext cx="457200" cy="759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59"/>
          <p:cNvSpPr/>
          <p:nvPr/>
        </p:nvSpPr>
        <p:spPr>
          <a:xfrm>
            <a:off x="5672435" y="4206240"/>
            <a:ext cx="457200" cy="759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0"/>
          <p:cNvSpPr/>
          <p:nvPr/>
        </p:nvSpPr>
        <p:spPr>
          <a:xfrm>
            <a:off x="5543550" y="807690"/>
            <a:ext cx="257770" cy="257770"/>
          </a:xfrm>
          <a:prstGeom prst="ellipse">
            <a:avLst/>
          </a:prstGeom>
          <a:solidFill>
            <a:srgbClr val="3B82F6">
              <a:alpha val="20000"/>
            </a:srgbClr>
          </a:solidFill>
          <a:ln w="9525">
            <a:solidFill>
              <a:srgbClr val="3B82F6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06067" y="870207"/>
            <a:ext cx="132588" cy="132588"/>
          </a:xfrm>
          <a:prstGeom prst="rect">
            <a:avLst/>
          </a:prstGeom>
        </p:spPr>
      </p:pic>
      <p:sp>
        <p:nvSpPr>
          <p:cNvPr id="72" name="Text 61"/>
          <p:cNvSpPr/>
          <p:nvPr/>
        </p:nvSpPr>
        <p:spPr>
          <a:xfrm>
            <a:off x="5596686" y="1079302"/>
            <a:ext cx="151349" cy="14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61"/>
              </a:lnSpc>
              <a:buNone/>
            </a:pPr>
            <a:r>
              <a:rPr lang="en-US" sz="510" b="1" kern="0" spc="31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br/>
            <a:r>
              <a:rPr lang="en-US" sz="510" b="1" kern="0" spc="31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10" dirty="0"/>
          </a:p>
        </p:txBody>
      </p:sp>
      <p:sp>
        <p:nvSpPr>
          <p:cNvPr id="73" name="Text 62"/>
          <p:cNvSpPr/>
          <p:nvPr/>
        </p:nvSpPr>
        <p:spPr>
          <a:xfrm>
            <a:off x="5543550" y="1436340"/>
            <a:ext cx="257770" cy="257770"/>
          </a:xfrm>
          <a:prstGeom prst="ellipse">
            <a:avLst/>
          </a:prstGeom>
          <a:solidFill>
            <a:srgbClr val="14B8A6">
              <a:alpha val="20000"/>
            </a:srgbClr>
          </a:solidFill>
          <a:ln w="9525">
            <a:solidFill>
              <a:srgbClr val="14B8A6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4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06067" y="1498857"/>
            <a:ext cx="132588" cy="132588"/>
          </a:xfrm>
          <a:prstGeom prst="rect">
            <a:avLst/>
          </a:prstGeom>
        </p:spPr>
      </p:pic>
      <p:sp>
        <p:nvSpPr>
          <p:cNvPr id="75" name="Text 63"/>
          <p:cNvSpPr/>
          <p:nvPr/>
        </p:nvSpPr>
        <p:spPr>
          <a:xfrm>
            <a:off x="5596686" y="1707952"/>
            <a:ext cx="151349" cy="14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61"/>
              </a:lnSpc>
              <a:buNone/>
            </a:pPr>
            <a:r>
              <a:rPr lang="en-US" sz="510" b="1" kern="0" spc="31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br/>
            <a:r>
              <a:rPr lang="en-US" sz="510" b="1" kern="0" spc="31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10" dirty="0"/>
          </a:p>
        </p:txBody>
      </p:sp>
      <p:sp>
        <p:nvSpPr>
          <p:cNvPr id="76" name="Text 64"/>
          <p:cNvSpPr/>
          <p:nvPr/>
        </p:nvSpPr>
        <p:spPr>
          <a:xfrm>
            <a:off x="5543550" y="2064990"/>
            <a:ext cx="257770" cy="257770"/>
          </a:xfrm>
          <a:prstGeom prst="ellipse">
            <a:avLst/>
          </a:prstGeom>
          <a:solidFill>
            <a:srgbClr val="3B82F6">
              <a:alpha val="20000"/>
            </a:srgbClr>
          </a:solidFill>
          <a:ln w="9525">
            <a:solidFill>
              <a:srgbClr val="3B82F6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606067" y="2127507"/>
            <a:ext cx="132588" cy="132588"/>
          </a:xfrm>
          <a:prstGeom prst="rect">
            <a:avLst/>
          </a:prstGeom>
        </p:spPr>
      </p:pic>
      <p:sp>
        <p:nvSpPr>
          <p:cNvPr id="78" name="Text 65"/>
          <p:cNvSpPr/>
          <p:nvPr/>
        </p:nvSpPr>
        <p:spPr>
          <a:xfrm>
            <a:off x="5596686" y="2336602"/>
            <a:ext cx="151349" cy="14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61"/>
              </a:lnSpc>
              <a:buNone/>
            </a:pPr>
            <a:r>
              <a:rPr lang="en-US" sz="510" b="1" kern="0" spc="31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br/>
            <a:r>
              <a:rPr lang="en-US" sz="510" b="1" kern="0" spc="31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510" dirty="0"/>
          </a:p>
        </p:txBody>
      </p:sp>
      <p:sp>
        <p:nvSpPr>
          <p:cNvPr id="79" name="Text 66"/>
          <p:cNvSpPr/>
          <p:nvPr/>
        </p:nvSpPr>
        <p:spPr>
          <a:xfrm>
            <a:off x="5543550" y="2693640"/>
            <a:ext cx="257770" cy="257770"/>
          </a:xfrm>
          <a:prstGeom prst="ellipse">
            <a:avLst/>
          </a:prstGeom>
          <a:solidFill>
            <a:srgbClr val="14B8A6">
              <a:alpha val="20000"/>
            </a:srgbClr>
          </a:solidFill>
          <a:ln w="9525">
            <a:solidFill>
              <a:srgbClr val="14B8A6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0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06067" y="2756157"/>
            <a:ext cx="132588" cy="132588"/>
          </a:xfrm>
          <a:prstGeom prst="rect">
            <a:avLst/>
          </a:prstGeom>
        </p:spPr>
      </p:pic>
      <p:sp>
        <p:nvSpPr>
          <p:cNvPr id="81" name="Text 67"/>
          <p:cNvSpPr/>
          <p:nvPr/>
        </p:nvSpPr>
        <p:spPr>
          <a:xfrm>
            <a:off x="5596686" y="2965252"/>
            <a:ext cx="151349" cy="14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61"/>
              </a:lnSpc>
              <a:buNone/>
            </a:pPr>
            <a:r>
              <a:rPr lang="en-US" sz="510" b="1" kern="0" spc="31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br/>
            <a:r>
              <a:rPr lang="en-US" sz="510" b="1" kern="0" spc="31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10" dirty="0"/>
          </a:p>
        </p:txBody>
      </p:sp>
      <p:sp>
        <p:nvSpPr>
          <p:cNvPr id="82" name="Text 68"/>
          <p:cNvSpPr/>
          <p:nvPr/>
        </p:nvSpPr>
        <p:spPr>
          <a:xfrm>
            <a:off x="5543550" y="3322290"/>
            <a:ext cx="257770" cy="257770"/>
          </a:xfrm>
          <a:prstGeom prst="ellipse">
            <a:avLst/>
          </a:prstGeom>
          <a:solidFill>
            <a:srgbClr val="3B82F6">
              <a:alpha val="20000"/>
            </a:srgbClr>
          </a:solidFill>
          <a:ln w="9525">
            <a:solidFill>
              <a:srgbClr val="3B82F6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3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06067" y="3384807"/>
            <a:ext cx="132588" cy="132588"/>
          </a:xfrm>
          <a:prstGeom prst="rect">
            <a:avLst/>
          </a:prstGeom>
        </p:spPr>
      </p:pic>
      <p:sp>
        <p:nvSpPr>
          <p:cNvPr id="84" name="Text 69"/>
          <p:cNvSpPr/>
          <p:nvPr/>
        </p:nvSpPr>
        <p:spPr>
          <a:xfrm>
            <a:off x="5596686" y="3593902"/>
            <a:ext cx="151349" cy="14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61"/>
              </a:lnSpc>
              <a:buNone/>
            </a:pPr>
            <a:r>
              <a:rPr lang="en-US" sz="510" b="1" kern="0" spc="31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br/>
            <a:r>
              <a:rPr lang="en-US" sz="510" b="1" kern="0" spc="31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510" dirty="0"/>
          </a:p>
        </p:txBody>
      </p:sp>
      <p:sp>
        <p:nvSpPr>
          <p:cNvPr id="85" name="Text 70"/>
          <p:cNvSpPr/>
          <p:nvPr/>
        </p:nvSpPr>
        <p:spPr>
          <a:xfrm>
            <a:off x="5543550" y="4005072"/>
            <a:ext cx="257770" cy="257770"/>
          </a:xfrm>
          <a:prstGeom prst="ellipse">
            <a:avLst/>
          </a:prstGeom>
          <a:solidFill>
            <a:srgbClr val="10B981">
              <a:alpha val="25000"/>
            </a:srgbClr>
          </a:solidFill>
          <a:ln w="9525">
            <a:solidFill>
              <a:srgbClr val="10B981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6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06067" y="4069080"/>
            <a:ext cx="132588" cy="132588"/>
          </a:xfrm>
          <a:prstGeom prst="rect">
            <a:avLst/>
          </a:prstGeom>
        </p:spPr>
      </p:pic>
      <p:sp>
        <p:nvSpPr>
          <p:cNvPr id="87" name="Text 71"/>
          <p:cNvSpPr/>
          <p:nvPr/>
        </p:nvSpPr>
        <p:spPr>
          <a:xfrm>
            <a:off x="5596686" y="4279392"/>
            <a:ext cx="151349" cy="14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561"/>
              </a:lnSpc>
              <a:buNone/>
            </a:pPr>
            <a:r>
              <a:rPr lang="en-US" sz="510" b="1" kern="0" spc="31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br/>
            <a:r>
              <a:rPr lang="en-US" sz="510" b="1" kern="0" spc="31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B82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B82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5750" y="571500"/>
            <a:ext cx="2715220" cy="2715220"/>
          </a:xfrm>
          <a:prstGeom prst="ellipse">
            <a:avLst/>
          </a:prstGeom>
          <a:gradFill rotWithShape="1">
            <a:gsLst>
              <a:gs pos="0">
                <a:srgbClr val="EF4444">
                  <a:alpha val="9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43030" y="571500"/>
            <a:ext cx="2715220" cy="2715220"/>
          </a:xfrm>
          <a:prstGeom prst="ellipse">
            <a:avLst/>
          </a:prstGeom>
          <a:gradFill rotWithShape="1">
            <a:gsLst>
              <a:gs pos="0">
                <a:srgbClr val="22C55E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9220" y="314920"/>
            <a:ext cx="1399791" cy="195411"/>
          </a:xfrm>
          <a:prstGeom prst="roundRect">
            <a:avLst>
              <a:gd name="adj" fmla="val 73440"/>
            </a:avLst>
          </a:prstGeom>
          <a:solidFill>
            <a:srgbClr val="3B82F6">
              <a:alpha val="15000"/>
            </a:srgbClr>
          </a:solidFill>
          <a:ln w="9525">
            <a:solidFill>
              <a:srgbClr val="3B82F6">
                <a:alpha val="30000"/>
              </a:srgbClr>
            </a:solidFill>
          </a:ln>
        </p:spPr>
        <p:txBody>
          <a:bodyPr wrap="none" lIns="185390" tIns="29210" rIns="100330" bIns="29210" rtlCol="0" anchor="ctr"/>
          <a:lstStyle/>
          <a:p>
            <a:pPr marL="0" indent="0" algn="l">
              <a:buNone/>
            </a:pPr>
            <a:r>
              <a:rPr lang="en-US" sz="620" b="1" kern="0" spc="62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SUITE · RISK ANALYSIS</a:t>
            </a:r>
            <a:endParaRPr lang="en-US" sz="62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812" y="346332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9220" y="567482"/>
            <a:ext cx="3222663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3"/>
              </a:lnSpc>
              <a:buNone/>
            </a:pPr>
            <a:r>
              <a:rPr lang="en-US" sz="2030" b="1" kern="0" spc="-2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Mitigation</a:t>
            </a:r>
            <a:r>
              <a:rPr lang="en-US" sz="2030" kern="0" spc="-2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Matrix</a:t>
            </a:r>
            <a:endParaRPr lang="en-US" sz="2030" dirty="0"/>
          </a:p>
        </p:txBody>
      </p:sp>
      <p:sp>
        <p:nvSpPr>
          <p:cNvPr id="9" name="Text 6"/>
          <p:cNvSpPr/>
          <p:nvPr/>
        </p:nvSpPr>
        <p:spPr>
          <a:xfrm>
            <a:off x="429220" y="880170"/>
            <a:ext cx="3313018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i="1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risks surfaced by adversarial testing and live operation — each closed by a deterministic guard, each receipted.</a:t>
            </a:r>
            <a:endParaRPr lang="en-US" sz="790" dirty="0"/>
          </a:p>
        </p:txBody>
      </p:sp>
      <p:sp>
        <p:nvSpPr>
          <p:cNvPr id="10" name="Text 7"/>
          <p:cNvSpPr/>
          <p:nvPr/>
        </p:nvSpPr>
        <p:spPr>
          <a:xfrm>
            <a:off x="6861125" y="344091"/>
            <a:ext cx="1890727" cy="207913"/>
          </a:xfrm>
          <a:prstGeom prst="roundRect">
            <a:avLst>
              <a:gd name="adj" fmla="val 69024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25000"/>
              </a:srgbClr>
            </a:solidFill>
          </a:ln>
        </p:spPr>
        <p:txBody>
          <a:bodyPr wrap="none" lIns="213012" tIns="35560" rIns="100330" bIns="35560" rtlCol="0" anchor="ctr"/>
          <a:lstStyle/>
          <a:p>
            <a:pPr marL="0" indent="0" algn="l">
              <a:buNone/>
            </a:pPr>
            <a:r>
              <a:rPr lang="en-US" sz="620" b="1" kern="0" spc="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RISKS IDENTIFIED · 4 RESOLVED</a:t>
            </a:r>
            <a:endParaRPr lang="en-US" sz="62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39418" y="381753"/>
            <a:ext cx="132588" cy="1325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9220" y="1231255"/>
            <a:ext cx="4189354" cy="280988"/>
          </a:xfrm>
          <a:prstGeom prst="roundRect">
            <a:avLst>
              <a:gd name="adj" fmla="val 25311"/>
            </a:avLst>
          </a:prstGeom>
          <a:gradFill rotWithShape="1">
            <a:gsLst>
              <a:gs pos="0">
                <a:srgbClr val="EF4444">
                  <a:alpha val="18000"/>
                </a:srgbClr>
              </a:gs>
              <a:gs pos="100000">
                <a:srgbClr val="EF4444">
                  <a:alpha val="8000"/>
                </a:srgbClr>
              </a:gs>
            </a:gsLst>
            <a:lin ang="2700000" scaled="1"/>
          </a:gradFill>
          <a:ln/>
        </p:spPr>
        <p:txBody>
          <a:bodyPr wrap="none" lIns="294551" tIns="71120" rIns="143510" bIns="71120" rtlCol="0" anchor="ctr"/>
          <a:lstStyle/>
          <a:p>
            <a:pPr marL="0" indent="0" algn="l">
              <a:buNone/>
            </a:pPr>
            <a:r>
              <a:rPr lang="en-US" sz="680" b="1" kern="0" spc="82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RISKS</a:t>
            </a:r>
            <a:endParaRPr lang="en-US" sz="68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5882" y="1310143"/>
            <a:ext cx="132588" cy="1325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9220" y="1512243"/>
            <a:ext cx="4107210" cy="3039517"/>
          </a:xfrm>
          <a:prstGeom prst="rect">
            <a:avLst/>
          </a:prstGeom>
          <a:solidFill>
            <a:srgbClr val="13192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429220" y="1512243"/>
            <a:ext cx="9525" cy="3039517"/>
          </a:xfrm>
          <a:prstGeom prst="rect">
            <a:avLst/>
          </a:prstGeom>
          <a:solidFill>
            <a:srgbClr val="EF4444">
              <a:alpha val="2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4526905" y="1512243"/>
            <a:ext cx="9525" cy="3039517"/>
          </a:xfrm>
          <a:prstGeom prst="rect">
            <a:avLst/>
          </a:prstGeom>
          <a:solidFill>
            <a:srgbClr val="EF4444">
              <a:alpha val="2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438745" y="2121408"/>
            <a:ext cx="4088160" cy="9525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582216" y="1669554"/>
            <a:ext cx="157460" cy="173206"/>
          </a:xfrm>
          <a:prstGeom prst="ellipse">
            <a:avLst/>
          </a:prstGeom>
          <a:solidFill>
            <a:srgbClr val="EF4444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20" dirty="0"/>
          </a:p>
        </p:txBody>
      </p:sp>
      <p:sp>
        <p:nvSpPr>
          <p:cNvPr id="19" name="Text 14"/>
          <p:cNvSpPr/>
          <p:nvPr/>
        </p:nvSpPr>
        <p:spPr>
          <a:xfrm>
            <a:off x="839986" y="1661964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2577" y="1724555"/>
            <a:ext cx="132588" cy="1325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98066" y="1661964"/>
            <a:ext cx="3246120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use spikes runtime latency</a:t>
            </a:r>
            <a:endParaRPr lang="en-US" sz="760" dirty="0"/>
          </a:p>
        </p:txBody>
      </p:sp>
      <p:sp>
        <p:nvSpPr>
          <p:cNvPr id="22" name="Text 16"/>
          <p:cNvSpPr/>
          <p:nvPr/>
        </p:nvSpPr>
        <p:spPr>
          <a:xfrm>
            <a:off x="1198066" y="1801267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chat in a frozen runtime measurably degrades LLM latency (proven by the Sept 23 incident)</a:t>
            </a:r>
            <a:endParaRPr lang="en-US" sz="650" dirty="0"/>
          </a:p>
        </p:txBody>
      </p:sp>
      <p:sp>
        <p:nvSpPr>
          <p:cNvPr id="23" name="Text 17"/>
          <p:cNvSpPr/>
          <p:nvPr/>
        </p:nvSpPr>
        <p:spPr>
          <a:xfrm>
            <a:off x="438745" y="2647188"/>
            <a:ext cx="4088160" cy="9525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582216" y="2231136"/>
            <a:ext cx="157460" cy="173206"/>
          </a:xfrm>
          <a:prstGeom prst="ellipse">
            <a:avLst/>
          </a:prstGeom>
          <a:solidFill>
            <a:srgbClr val="EF4444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20" dirty="0"/>
          </a:p>
        </p:txBody>
      </p:sp>
      <p:sp>
        <p:nvSpPr>
          <p:cNvPr id="25" name="Text 19"/>
          <p:cNvSpPr/>
          <p:nvPr/>
        </p:nvSpPr>
        <p:spPr>
          <a:xfrm>
            <a:off x="839986" y="2231136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2577" y="2286000"/>
            <a:ext cx="132588" cy="1325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98066" y="2231136"/>
            <a:ext cx="3246120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Unfiltered reads return cross-tenant data</a:t>
            </a:r>
            <a:endParaRPr lang="en-US" sz="760" dirty="0"/>
          </a:p>
        </p:txBody>
      </p:sp>
      <p:sp>
        <p:nvSpPr>
          <p:cNvPr id="28" name="Text 21"/>
          <p:cNvSpPr/>
          <p:nvPr/>
        </p:nvSpPr>
        <p:spPr>
          <a:xfrm>
            <a:off x="1198066" y="2368296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Test 1 proved unfiltered entity reads expose cross-tenant records</a:t>
            </a:r>
            <a:endParaRPr lang="en-US" sz="650" dirty="0"/>
          </a:p>
        </p:txBody>
      </p:sp>
      <p:sp>
        <p:nvSpPr>
          <p:cNvPr id="29" name="Text 22"/>
          <p:cNvSpPr/>
          <p:nvPr/>
        </p:nvSpPr>
        <p:spPr>
          <a:xfrm>
            <a:off x="438745" y="3099816"/>
            <a:ext cx="4088160" cy="9525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582216" y="2688336"/>
            <a:ext cx="157460" cy="173206"/>
          </a:xfrm>
          <a:prstGeom prst="ellipse">
            <a:avLst/>
          </a:prstGeom>
          <a:solidFill>
            <a:srgbClr val="EF4444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20" dirty="0"/>
          </a:p>
        </p:txBody>
      </p:sp>
      <p:sp>
        <p:nvSpPr>
          <p:cNvPr id="31" name="Text 24"/>
          <p:cNvSpPr/>
          <p:nvPr/>
        </p:nvSpPr>
        <p:spPr>
          <a:xfrm>
            <a:off x="839986" y="2679192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2577" y="2743200"/>
            <a:ext cx="132588" cy="13258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198066" y="2679192"/>
            <a:ext cx="3246120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workflows double-fire</a:t>
            </a:r>
            <a:endParaRPr lang="en-US" sz="760" dirty="0"/>
          </a:p>
        </p:txBody>
      </p:sp>
      <p:sp>
        <p:nvSpPr>
          <p:cNvPr id="34" name="Text 26"/>
          <p:cNvSpPr/>
          <p:nvPr/>
        </p:nvSpPr>
        <p:spPr>
          <a:xfrm>
            <a:off x="1198066" y="281635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Test 4 proved the entity layer accepts duplicate triggered runs</a:t>
            </a:r>
            <a:endParaRPr lang="en-US" sz="650" dirty="0"/>
          </a:p>
        </p:txBody>
      </p:sp>
      <p:sp>
        <p:nvSpPr>
          <p:cNvPr id="35" name="Text 27"/>
          <p:cNvSpPr/>
          <p:nvPr/>
        </p:nvSpPr>
        <p:spPr>
          <a:xfrm>
            <a:off x="582216" y="3136392"/>
            <a:ext cx="157460" cy="173206"/>
          </a:xfrm>
          <a:prstGeom prst="ellipse">
            <a:avLst/>
          </a:prstGeom>
          <a:solidFill>
            <a:srgbClr val="EF4444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20" dirty="0"/>
          </a:p>
        </p:txBody>
      </p:sp>
      <p:sp>
        <p:nvSpPr>
          <p:cNvPr id="36" name="Text 28"/>
          <p:cNvSpPr/>
          <p:nvPr/>
        </p:nvSpPr>
        <p:spPr>
          <a:xfrm>
            <a:off x="839986" y="3136392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2577" y="3191256"/>
            <a:ext cx="132588" cy="13258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198066" y="3136392"/>
            <a:ext cx="3246120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identity pulls contaminate tenants</a:t>
            </a:r>
            <a:endParaRPr lang="en-US" sz="760" dirty="0"/>
          </a:p>
        </p:txBody>
      </p:sp>
      <p:sp>
        <p:nvSpPr>
          <p:cNvPr id="39" name="Text 30"/>
          <p:cNvSpPr/>
          <p:nvPr/>
        </p:nvSpPr>
        <p:spPr>
          <a:xfrm>
            <a:off x="1198066" y="327355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Shared-account profile pulls caused cross-tenant data drift in live operation</a:t>
            </a:r>
            <a:endParaRPr lang="en-US" sz="650" dirty="0"/>
          </a:p>
        </p:txBody>
      </p:sp>
      <p:sp>
        <p:nvSpPr>
          <p:cNvPr id="40" name="Text 31"/>
          <p:cNvSpPr/>
          <p:nvPr/>
        </p:nvSpPr>
        <p:spPr>
          <a:xfrm>
            <a:off x="4568130" y="1231255"/>
            <a:ext cx="7590" cy="1516707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3B82F6">
                  <a:alpha val="25000"/>
                </a:srgbClr>
              </a:gs>
              <a:gs pos="80000">
                <a:srgbClr val="3B82F6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2"/>
          <p:cNvSpPr/>
          <p:nvPr/>
        </p:nvSpPr>
        <p:spPr>
          <a:xfrm>
            <a:off x="4471690" y="2791123"/>
            <a:ext cx="200620" cy="200620"/>
          </a:xfrm>
          <a:prstGeom prst="ellipse">
            <a:avLst/>
          </a:prstGeom>
          <a:solidFill>
            <a:srgbClr val="3B82F6">
              <a:alpha val="18000"/>
            </a:srgbClr>
          </a:solidFill>
          <a:ln w="9525">
            <a:solidFill>
              <a:srgbClr val="3B82F6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05632" y="2825064"/>
            <a:ext cx="132588" cy="13258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4568130" y="3034903"/>
            <a:ext cx="7590" cy="1516856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3B82F6">
                  <a:alpha val="25000"/>
                </a:srgbClr>
              </a:gs>
              <a:gs pos="80000">
                <a:srgbClr val="3B82F6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4"/>
          <p:cNvSpPr/>
          <p:nvPr/>
        </p:nvSpPr>
        <p:spPr>
          <a:xfrm>
            <a:off x="4607421" y="1231255"/>
            <a:ext cx="4189506" cy="280988"/>
          </a:xfrm>
          <a:prstGeom prst="roundRect">
            <a:avLst>
              <a:gd name="adj" fmla="val 25311"/>
            </a:avLst>
          </a:prstGeom>
          <a:gradFill rotWithShape="1">
            <a:gsLst>
              <a:gs pos="0">
                <a:srgbClr val="22C55E">
                  <a:alpha val="18000"/>
                </a:srgbClr>
              </a:gs>
              <a:gs pos="100000">
                <a:srgbClr val="22C55E">
                  <a:alpha val="8000"/>
                </a:srgbClr>
              </a:gs>
            </a:gsLst>
            <a:lin ang="2700000" scaled="1"/>
          </a:gradFill>
          <a:ln/>
        </p:spPr>
        <p:txBody>
          <a:bodyPr wrap="none" lIns="294551" tIns="71120" rIns="143510" bIns="71120" rtlCol="0" anchor="ctr"/>
          <a:lstStyle/>
          <a:p>
            <a:pPr marL="0" indent="0" algn="l">
              <a:buNone/>
            </a:pPr>
            <a:r>
              <a:rPr lang="en-US" sz="680" b="1" kern="0" spc="82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</a:t>
            </a:r>
            <a:endParaRPr lang="en-US" sz="680" dirty="0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34083" y="1310143"/>
            <a:ext cx="132588" cy="132588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4607421" y="1512243"/>
            <a:ext cx="4107359" cy="3039517"/>
          </a:xfrm>
          <a:prstGeom prst="rect">
            <a:avLst/>
          </a:prstGeom>
          <a:solidFill>
            <a:srgbClr val="13192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6"/>
          <p:cNvSpPr/>
          <p:nvPr/>
        </p:nvSpPr>
        <p:spPr>
          <a:xfrm>
            <a:off x="4607421" y="1512243"/>
            <a:ext cx="9525" cy="3039517"/>
          </a:xfrm>
          <a:prstGeom prst="rect">
            <a:avLst/>
          </a:prstGeom>
          <a:solidFill>
            <a:srgbClr val="22C55E">
              <a:alpha val="2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37"/>
          <p:cNvSpPr/>
          <p:nvPr/>
        </p:nvSpPr>
        <p:spPr>
          <a:xfrm>
            <a:off x="8705255" y="1512243"/>
            <a:ext cx="9525" cy="3039517"/>
          </a:xfrm>
          <a:prstGeom prst="rect">
            <a:avLst/>
          </a:prstGeom>
          <a:solidFill>
            <a:srgbClr val="22C55E">
              <a:alpha val="2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38"/>
          <p:cNvSpPr/>
          <p:nvPr/>
        </p:nvSpPr>
        <p:spPr>
          <a:xfrm>
            <a:off x="4616946" y="2125117"/>
            <a:ext cx="4088309" cy="9525"/>
          </a:xfrm>
          <a:prstGeom prst="rect">
            <a:avLst/>
          </a:prstGeom>
          <a:solidFill>
            <a:srgbClr val="22C55E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39"/>
          <p:cNvSpPr/>
          <p:nvPr/>
        </p:nvSpPr>
        <p:spPr>
          <a:xfrm>
            <a:off x="4760416" y="1669554"/>
            <a:ext cx="157460" cy="173206"/>
          </a:xfrm>
          <a:prstGeom prst="ellipse">
            <a:avLst/>
          </a:prstGeom>
          <a:solidFill>
            <a:srgbClr val="22C55E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20" dirty="0"/>
          </a:p>
        </p:txBody>
      </p:sp>
      <p:sp>
        <p:nvSpPr>
          <p:cNvPr id="51" name="Text 40"/>
          <p:cNvSpPr/>
          <p:nvPr/>
        </p:nvSpPr>
        <p:spPr>
          <a:xfrm>
            <a:off x="5018187" y="1661964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22C55E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80778" y="1724555"/>
            <a:ext cx="132588" cy="132588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5376267" y="1661964"/>
            <a:ext cx="3246120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isolation of chaos targets</a:t>
            </a:r>
            <a:endParaRPr lang="en-US" sz="760" dirty="0"/>
          </a:p>
        </p:txBody>
      </p:sp>
      <p:sp>
        <p:nvSpPr>
          <p:cNvPr id="54" name="Text 42"/>
          <p:cNvSpPr/>
          <p:nvPr/>
        </p:nvSpPr>
        <p:spPr>
          <a:xfrm>
            <a:off x="5376267" y="1801267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Horsemen + SIM-B run on synthetic telemetry only — they never touch the frozen Lindy runtime or the live tenant</a:t>
            </a:r>
            <a:endParaRPr lang="en-US" sz="650" dirty="0"/>
          </a:p>
        </p:txBody>
      </p:sp>
      <p:sp>
        <p:nvSpPr>
          <p:cNvPr id="55" name="Text 43"/>
          <p:cNvSpPr/>
          <p:nvPr/>
        </p:nvSpPr>
        <p:spPr>
          <a:xfrm>
            <a:off x="4616946" y="2647188"/>
            <a:ext cx="4088309" cy="9525"/>
          </a:xfrm>
          <a:prstGeom prst="rect">
            <a:avLst/>
          </a:prstGeom>
          <a:solidFill>
            <a:srgbClr val="22C55E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4"/>
          <p:cNvSpPr/>
          <p:nvPr/>
        </p:nvSpPr>
        <p:spPr>
          <a:xfrm>
            <a:off x="4760416" y="2234803"/>
            <a:ext cx="157460" cy="173206"/>
          </a:xfrm>
          <a:prstGeom prst="ellipse">
            <a:avLst/>
          </a:prstGeom>
          <a:solidFill>
            <a:srgbClr val="22C55E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20" dirty="0"/>
          </a:p>
        </p:txBody>
      </p:sp>
      <p:sp>
        <p:nvSpPr>
          <p:cNvPr id="57" name="Text 45"/>
          <p:cNvSpPr/>
          <p:nvPr/>
        </p:nvSpPr>
        <p:spPr>
          <a:xfrm>
            <a:off x="5018187" y="2227213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22C55E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8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080778" y="2289804"/>
            <a:ext cx="132588" cy="132588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5376267" y="2227213"/>
            <a:ext cx="3246120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tenantGuard — fail-closed reads</a:t>
            </a:r>
            <a:endParaRPr lang="en-US" sz="760" dirty="0"/>
          </a:p>
        </p:txBody>
      </p:sp>
      <p:sp>
        <p:nvSpPr>
          <p:cNvPr id="60" name="Text 47"/>
          <p:cNvSpPr/>
          <p:nvPr/>
        </p:nvSpPr>
        <p:spPr>
          <a:xfrm>
            <a:off x="5376267" y="2366516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Session-injected customer_id required on every tenant-scoped read; unfiltered reads rejected and logged; weekly self-test</a:t>
            </a:r>
            <a:endParaRPr lang="en-US" sz="650" dirty="0"/>
          </a:p>
        </p:txBody>
      </p:sp>
      <p:sp>
        <p:nvSpPr>
          <p:cNvPr id="61" name="Text 48"/>
          <p:cNvSpPr/>
          <p:nvPr/>
        </p:nvSpPr>
        <p:spPr>
          <a:xfrm>
            <a:off x="4616946" y="3099816"/>
            <a:ext cx="4088309" cy="9525"/>
          </a:xfrm>
          <a:prstGeom prst="rect">
            <a:avLst/>
          </a:prstGeom>
          <a:solidFill>
            <a:srgbClr val="22C55E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49"/>
          <p:cNvSpPr/>
          <p:nvPr/>
        </p:nvSpPr>
        <p:spPr>
          <a:xfrm>
            <a:off x="4760416" y="2687241"/>
            <a:ext cx="157460" cy="173206"/>
          </a:xfrm>
          <a:prstGeom prst="ellipse">
            <a:avLst/>
          </a:prstGeom>
          <a:solidFill>
            <a:srgbClr val="22C55E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20" dirty="0"/>
          </a:p>
        </p:txBody>
      </p:sp>
      <p:sp>
        <p:nvSpPr>
          <p:cNvPr id="63" name="Text 50"/>
          <p:cNvSpPr/>
          <p:nvPr/>
        </p:nvSpPr>
        <p:spPr>
          <a:xfrm>
            <a:off x="5018187" y="2679650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22C55E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4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80778" y="2742242"/>
            <a:ext cx="132588" cy="132588"/>
          </a:xfrm>
          <a:prstGeom prst="rect">
            <a:avLst/>
          </a:prstGeom>
        </p:spPr>
      </p:pic>
      <p:sp>
        <p:nvSpPr>
          <p:cNvPr id="65" name="Text 51"/>
          <p:cNvSpPr/>
          <p:nvPr/>
        </p:nvSpPr>
        <p:spPr>
          <a:xfrm>
            <a:off x="5376267" y="2679650"/>
            <a:ext cx="3246120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idempotency signatures</a:t>
            </a:r>
            <a:endParaRPr lang="en-US" sz="760" dirty="0"/>
          </a:p>
        </p:txBody>
      </p:sp>
      <p:sp>
        <p:nvSpPr>
          <p:cNvPr id="66" name="Text 52"/>
          <p:cNvSpPr/>
          <p:nvPr/>
        </p:nvSpPr>
        <p:spPr>
          <a:xfrm>
            <a:off x="5376267" y="281895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scheduled workflow stamps a signature per window; duplicates exit silently as idempotency_skip — never double-execute</a:t>
            </a:r>
            <a:endParaRPr lang="en-US" sz="650" dirty="0"/>
          </a:p>
        </p:txBody>
      </p:sp>
      <p:sp>
        <p:nvSpPr>
          <p:cNvPr id="67" name="Text 53"/>
          <p:cNvSpPr/>
          <p:nvPr/>
        </p:nvSpPr>
        <p:spPr>
          <a:xfrm>
            <a:off x="4760416" y="3139678"/>
            <a:ext cx="157460" cy="173206"/>
          </a:xfrm>
          <a:prstGeom prst="ellipse">
            <a:avLst/>
          </a:prstGeom>
          <a:solidFill>
            <a:srgbClr val="22C55E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20" dirty="0"/>
          </a:p>
        </p:txBody>
      </p:sp>
      <p:sp>
        <p:nvSpPr>
          <p:cNvPr id="68" name="Text 54"/>
          <p:cNvSpPr/>
          <p:nvPr/>
        </p:nvSpPr>
        <p:spPr>
          <a:xfrm>
            <a:off x="5018187" y="3132088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22C55E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9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080778" y="3194679"/>
            <a:ext cx="132588" cy="132588"/>
          </a:xfrm>
          <a:prstGeom prst="rect">
            <a:avLst/>
          </a:prstGeom>
        </p:spPr>
      </p:pic>
      <p:sp>
        <p:nvSpPr>
          <p:cNvPr id="70" name="Text 55"/>
          <p:cNvSpPr/>
          <p:nvPr/>
        </p:nvSpPr>
        <p:spPr>
          <a:xfrm>
            <a:off x="5376267" y="3132088"/>
            <a:ext cx="3246120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owner identity</a:t>
            </a:r>
            <a:endParaRPr lang="en-US" sz="760" dirty="0"/>
          </a:p>
        </p:txBody>
      </p:sp>
      <p:sp>
        <p:nvSpPr>
          <p:cNvPr id="71" name="Text 56"/>
          <p:cNvSpPr/>
          <p:nvPr/>
        </p:nvSpPr>
        <p:spPr>
          <a:xfrm>
            <a:off x="5376267" y="3271391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runtime instances hardcode owner identity and block dynamic profile pulls — contamination vector eliminated</a:t>
            </a:r>
            <a:endParaRPr lang="en-US" sz="650" dirty="0"/>
          </a:p>
        </p:txBody>
      </p:sp>
      <p:sp>
        <p:nvSpPr>
          <p:cNvPr id="72" name="Text 57"/>
          <p:cNvSpPr/>
          <p:nvPr/>
        </p:nvSpPr>
        <p:spPr>
          <a:xfrm>
            <a:off x="429220" y="4666059"/>
            <a:ext cx="8285559" cy="9525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3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489034" y="4757449"/>
            <a:ext cx="132588" cy="132588"/>
          </a:xfrm>
          <a:prstGeom prst="rect">
            <a:avLst/>
          </a:prstGeom>
        </p:spPr>
      </p:pic>
      <p:sp>
        <p:nvSpPr>
          <p:cNvPr id="74" name="Text 58"/>
          <p:cNvSpPr/>
          <p:nvPr/>
        </p:nvSpPr>
        <p:spPr>
          <a:xfrm>
            <a:off x="1644848" y="4761905"/>
            <a:ext cx="82690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risks resolved</a:t>
            </a:r>
            <a:endParaRPr lang="en-US" sz="650" dirty="0"/>
          </a:p>
        </p:txBody>
      </p:sp>
      <p:sp>
        <p:nvSpPr>
          <p:cNvPr id="75" name="Text 59"/>
          <p:cNvSpPr/>
          <p:nvPr/>
        </p:nvSpPr>
        <p:spPr>
          <a:xfrm>
            <a:off x="2453729" y="4809232"/>
            <a:ext cx="29170" cy="29170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60"/>
          <p:cNvSpPr/>
          <p:nvPr/>
        </p:nvSpPr>
        <p:spPr>
          <a:xfrm>
            <a:off x="2540050" y="4761905"/>
            <a:ext cx="231389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guard verified by a live adversarial suite</a:t>
            </a:r>
            <a:endParaRPr lang="en-US" sz="650" dirty="0"/>
          </a:p>
        </p:txBody>
      </p:sp>
      <p:sp>
        <p:nvSpPr>
          <p:cNvPr id="77" name="Text 61"/>
          <p:cNvSpPr/>
          <p:nvPr/>
        </p:nvSpPr>
        <p:spPr>
          <a:xfrm>
            <a:off x="4700736" y="4809232"/>
            <a:ext cx="29170" cy="29170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62"/>
          <p:cNvSpPr/>
          <p:nvPr/>
        </p:nvSpPr>
        <p:spPr>
          <a:xfrm>
            <a:off x="4787057" y="4761905"/>
            <a:ext cx="138630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proven; hardening buyer-side</a:t>
            </a:r>
            <a:endParaRPr lang="en-US" sz="650" dirty="0"/>
          </a:p>
        </p:txBody>
      </p:sp>
      <p:sp>
        <p:nvSpPr>
          <p:cNvPr id="79" name="Text 63"/>
          <p:cNvSpPr/>
          <p:nvPr/>
        </p:nvSpPr>
        <p:spPr>
          <a:xfrm>
            <a:off x="6104483" y="4809232"/>
            <a:ext cx="29170" cy="29170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64"/>
          <p:cNvSpPr/>
          <p:nvPr/>
        </p:nvSpPr>
        <p:spPr>
          <a:xfrm>
            <a:off x="6190804" y="4761905"/>
            <a:ext cx="157309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Edition · October 2026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B82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B82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3B82F6"/>
              </a:gs>
              <a:gs pos="50000">
                <a:srgbClr val="60A5FA"/>
              </a:gs>
              <a:gs pos="70000">
                <a:srgbClr val="3B82F6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963025" y="4743450"/>
            <a:ext cx="9525" cy="228600"/>
          </a:xfrm>
          <a:prstGeom prst="rect">
            <a:avLst/>
          </a:pr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29" y="0"/>
            <a:ext cx="8856942" cy="51435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01139"/>
            <a:ext cx="3784641" cy="3642361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1639" y="0"/>
            <a:ext cx="3642361" cy="349889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855095" y="1493222"/>
            <a:ext cx="1462486" cy="207913"/>
          </a:xfrm>
          <a:prstGeom prst="roundRect">
            <a:avLst>
              <a:gd name="adj" fmla="val 69024"/>
            </a:avLst>
          </a:prstGeom>
          <a:solidFill>
            <a:srgbClr val="3B82F6">
              <a:alpha val="12000"/>
            </a:srgbClr>
          </a:solidFill>
          <a:ln w="9525">
            <a:solidFill>
              <a:srgbClr val="3B82F6">
                <a:alpha val="35000"/>
              </a:srgbClr>
            </a:solidFill>
          </a:ln>
        </p:spPr>
        <p:txBody>
          <a:bodyPr wrap="none" lIns="234831" tIns="35560" rIns="128270" bIns="35560" rtlCol="0" anchor="ctr"/>
          <a:lstStyle/>
          <a:p>
            <a:pPr marL="0" indent="0" algn="l">
              <a:buNone/>
            </a:pPr>
            <a:r>
              <a:rPr lang="en-US" sz="620" b="1" kern="0" spc="112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RECEIPT-BACKED</a:t>
            </a:r>
            <a:endParaRPr lang="en-US" sz="620" dirty="0"/>
          </a:p>
        </p:txBody>
      </p:sp>
      <p:sp>
        <p:nvSpPr>
          <p:cNvPr id="10" name="Text 5"/>
          <p:cNvSpPr/>
          <p:nvPr/>
        </p:nvSpPr>
        <p:spPr>
          <a:xfrm>
            <a:off x="3992761" y="1572399"/>
            <a:ext cx="49411" cy="49411"/>
          </a:xfrm>
          <a:prstGeom prst="ellipse">
            <a:avLst/>
          </a:prstGeom>
          <a:solidFill>
            <a:srgbClr val="22C55E"/>
          </a:solidFill>
          <a:ln/>
          <a:effectLst>
            <a:outerShdw blurRad="43180" dist="50800" dir="16200000" algn="bl" rotWithShape="0">
              <a:srgbClr val="22C55E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1292715" y="1901756"/>
            <a:ext cx="6558570" cy="956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587"/>
              </a:lnSpc>
              <a:buNone/>
            </a:pPr>
            <a:r>
              <a:rPr lang="en-US" sz="3040" kern="0" spc="-30" dirty="0">
                <a:solidFill>
                  <a:srgbClr val="F0F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deterministic runtime is validated, governed, and receipt-backed — a prototype built for buyers to harden.</a:t>
            </a:r>
            <a:endParaRPr lang="en-US" sz="3040" dirty="0"/>
          </a:p>
        </p:txBody>
      </p:sp>
      <p:sp>
        <p:nvSpPr>
          <p:cNvPr id="12" name="Text 7"/>
          <p:cNvSpPr/>
          <p:nvPr/>
        </p:nvSpPr>
        <p:spPr>
          <a:xfrm>
            <a:off x="4286250" y="2970044"/>
            <a:ext cx="57150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3B82F6"/>
              </a:gs>
              <a:gs pos="100000">
                <a:srgbClr val="60A5F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1292715" y="3149084"/>
            <a:ext cx="6558570" cy="358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44"/>
              </a:lnSpc>
              <a:buNone/>
            </a:pPr>
            <a:r>
              <a:rPr lang="en-US" sz="840" kern="0" spc="34" dirty="0">
                <a:solidFill>
                  <a:srgbClr val="A5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Core established · Bifurcated governance operational · Horsemen benchmark fleet live · SDR-1 passed · SIM-B 100% parity (DSA + LT)</a:t>
            </a:r>
            <a:endParaRPr lang="en-US" sz="840" dirty="0"/>
          </a:p>
        </p:txBody>
      </p:sp>
      <p:sp>
        <p:nvSpPr>
          <p:cNvPr id="14" name="Text 9"/>
          <p:cNvSpPr/>
          <p:nvPr/>
        </p:nvSpPr>
        <p:spPr>
          <a:xfrm>
            <a:off x="2006278" y="3775918"/>
            <a:ext cx="1499741" cy="667941"/>
          </a:xfrm>
          <a:prstGeom prst="roundRect">
            <a:avLst>
              <a:gd name="adj" fmla="val 15021"/>
            </a:avLst>
          </a:prstGeom>
          <a:solidFill>
            <a:srgbClr val="131929">
              <a:alpha val="85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2187253" y="3960019"/>
            <a:ext cx="299591" cy="299591"/>
          </a:xfrm>
          <a:prstGeom prst="roundRect">
            <a:avLst>
              <a:gd name="adj" fmla="val 23739"/>
            </a:avLst>
          </a:prstGeom>
          <a:solidFill>
            <a:srgbClr val="22C55E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70754" y="4043520"/>
            <a:ext cx="132588" cy="1325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573164" y="3885754"/>
            <a:ext cx="82706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560" dirty="0"/>
          </a:p>
        </p:txBody>
      </p:sp>
      <p:sp>
        <p:nvSpPr>
          <p:cNvPr id="18" name="Text 12"/>
          <p:cNvSpPr/>
          <p:nvPr/>
        </p:nvSpPr>
        <p:spPr>
          <a:xfrm>
            <a:off x="2573164" y="4014043"/>
            <a:ext cx="766917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SDR-1 PASSED</a:t>
            </a:r>
            <a:endParaRPr lang="en-US" sz="840" dirty="0"/>
          </a:p>
        </p:txBody>
      </p:sp>
      <p:sp>
        <p:nvSpPr>
          <p:cNvPr id="19" name="Text 13"/>
          <p:cNvSpPr/>
          <p:nvPr/>
        </p:nvSpPr>
        <p:spPr>
          <a:xfrm>
            <a:off x="3649489" y="4095304"/>
            <a:ext cx="24259" cy="29170"/>
          </a:xfrm>
          <a:prstGeom prst="ellipse">
            <a:avLst/>
          </a:prstGeom>
          <a:solidFill>
            <a:srgbClr val="3B82F6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3817218" y="3775918"/>
            <a:ext cx="1509564" cy="667941"/>
          </a:xfrm>
          <a:prstGeom prst="roundRect">
            <a:avLst>
              <a:gd name="adj" fmla="val 15021"/>
            </a:avLst>
          </a:prstGeom>
          <a:solidFill>
            <a:srgbClr val="131929">
              <a:alpha val="85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3998193" y="3960019"/>
            <a:ext cx="299591" cy="299591"/>
          </a:xfrm>
          <a:prstGeom prst="roundRect">
            <a:avLst>
              <a:gd name="adj" fmla="val 23739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81695" y="4043520"/>
            <a:ext cx="132588" cy="1325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384104" y="3885754"/>
            <a:ext cx="83787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560" dirty="0"/>
          </a:p>
        </p:txBody>
      </p:sp>
      <p:sp>
        <p:nvSpPr>
          <p:cNvPr id="24" name="Text 17"/>
          <p:cNvSpPr/>
          <p:nvPr/>
        </p:nvSpPr>
        <p:spPr>
          <a:xfrm>
            <a:off x="4384104" y="4014043"/>
            <a:ext cx="776936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 — PRE-FLIGHT GO</a:t>
            </a:r>
            <a:endParaRPr lang="en-US" sz="840" dirty="0"/>
          </a:p>
        </p:txBody>
      </p:sp>
      <p:sp>
        <p:nvSpPr>
          <p:cNvPr id="25" name="Text 18"/>
          <p:cNvSpPr/>
          <p:nvPr/>
        </p:nvSpPr>
        <p:spPr>
          <a:xfrm>
            <a:off x="5470252" y="4095304"/>
            <a:ext cx="24259" cy="29170"/>
          </a:xfrm>
          <a:prstGeom prst="ellipse">
            <a:avLst/>
          </a:prstGeom>
          <a:solidFill>
            <a:srgbClr val="3B82F6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5637981" y="3775918"/>
            <a:ext cx="1499741" cy="667941"/>
          </a:xfrm>
          <a:prstGeom prst="roundRect">
            <a:avLst>
              <a:gd name="adj" fmla="val 15021"/>
            </a:avLst>
          </a:prstGeom>
          <a:solidFill>
            <a:srgbClr val="131929">
              <a:alpha val="85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5818956" y="3960019"/>
            <a:ext cx="299591" cy="299591"/>
          </a:xfrm>
          <a:prstGeom prst="roundRect">
            <a:avLst>
              <a:gd name="adj" fmla="val 23739"/>
            </a:avLst>
          </a:prstGeom>
          <a:solidFill>
            <a:srgbClr val="6382BE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02458" y="4043520"/>
            <a:ext cx="132588" cy="13258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204868" y="3885754"/>
            <a:ext cx="82706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8B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</a:t>
            </a:r>
            <a:endParaRPr lang="en-US" sz="560" dirty="0"/>
          </a:p>
        </p:txBody>
      </p:sp>
      <p:sp>
        <p:nvSpPr>
          <p:cNvPr id="30" name="Text 22"/>
          <p:cNvSpPr/>
          <p:nvPr/>
        </p:nvSpPr>
        <p:spPr>
          <a:xfrm>
            <a:off x="6204868" y="4014043"/>
            <a:ext cx="766917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VIOLATIONS</a:t>
            </a:r>
            <a:endParaRPr lang="en-US" sz="840" dirty="0"/>
          </a:p>
        </p:txBody>
      </p:sp>
      <p:sp>
        <p:nvSpPr>
          <p:cNvPr id="31" name="Text 23"/>
          <p:cNvSpPr/>
          <p:nvPr/>
        </p:nvSpPr>
        <p:spPr>
          <a:xfrm>
            <a:off x="3583781" y="4810869"/>
            <a:ext cx="217408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74" dirty="0">
                <a:solidFill>
                  <a:srgbClr val="8B9FCC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PATENTS PENDING + 5 SBIR TRACKS · SQUIRL OS TECHNOLOGIES</a:t>
            </a:r>
            <a:endParaRPr lang="en-US" sz="620" dirty="0"/>
          </a:p>
        </p:txBody>
      </p:sp>
      <p:sp>
        <p:nvSpPr>
          <p:cNvPr id="32" name="TextBox 31"/>
          <p:cNvSpPr txBox="1"/>
          <p:nvPr/>
        </p:nvSpPr>
        <p:spPr>
          <a:xfrm>
            <a:off x="594360" y="4759452"/>
            <a:ext cx="7955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>
                <a:solidFill>
                  <a:srgbClr val="9A9A9A"/>
                </a:solidFill>
                <a:latin typeface="Verdana"/>
              </a:rPr>
              <a:t>This software is a prototype and is provided for educational and research purposes only. It is not intended for production use, commercial deployment, or safety-critical environments. All systems are experimental and may contain defects on them.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035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AI-assisted research disclosure: prepared under SQUIRL OS open-book audit-and-correction protocols. Public ledger: github.com/LLong2026/squirrel-os-lindy-test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1270</Words>
  <Application>Microsoft Office PowerPoint</Application>
  <PresentationFormat>On-screen Show (16:9)</PresentationFormat>
  <Paragraphs>232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leon long</cp:lastModifiedBy>
  <cp:revision>2</cp:revision>
  <dcterms:created xsi:type="dcterms:W3CDTF">2026-09-26T00:54:02Z</dcterms:created>
  <dcterms:modified xsi:type="dcterms:W3CDTF">2026-09-30T02:52:59Z</dcterms:modified>
</cp:coreProperties>
</file>